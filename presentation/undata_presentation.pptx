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812280"/>
            <a:ext cx="12191695" cy="45720"/>
          </a:xfrm>
          <a:prstGeom prst="rect">
            <a:avLst/>
          </a:prstGeom>
          <a:solidFill>
            <a:srgbClr val="0E74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9144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200" b="1">
                <a:solidFill>
                  <a:srgbClr val="0E7490"/>
                </a:solidFill>
              </a:defRPr>
            </a:pPr>
            <a:r>
              <a:t>undata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46888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1E293B"/>
                </a:solidFill>
              </a:defRPr>
            </a:pPr>
            <a:r>
              <a:t>A Universal Data Element Registry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301752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1E293B"/>
                </a:solidFill>
              </a:defRPr>
            </a:pPr>
            <a:r>
              <a:t>for Neuroscience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3749039"/>
            <a:ext cx="2743200" cy="36576"/>
          </a:xfrm>
          <a:prstGeom prst="rect">
            <a:avLst/>
          </a:prstGeom>
          <a:solidFill>
            <a:srgbClr val="B4530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393192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0">
                <a:solidFill>
                  <a:srgbClr val="64748B"/>
                </a:solidFill>
              </a:defRPr>
            </a:pPr>
            <a:r>
              <a:t>Building a shared language for neuroscience data schemas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484632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
                  <a:srgbClr val="1E293B"/>
                </a:solidFill>
              </a:defRPr>
            </a:pPr>
            <a:r>
              <a:t>Satrajit Ghosh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21208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64748B"/>
                </a:solidFill>
              </a:defRPr>
            </a:pPr>
            <a:r>
              <a:t>MIT  | 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812280"/>
            <a:ext cx="12191695" cy="45720"/>
          </a:xfrm>
          <a:prstGeom prst="rect">
            <a:avLst/>
          </a:prstGeom>
          <a:solidFill>
            <a:srgbClr val="0E74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828800" y="109728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0">
                <a:solidFill>
                  <a:srgbClr val="64748B"/>
                </a:solidFill>
              </a:defRPr>
            </a:pPr>
            <a:r>
              <a:t>Neuroscience has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800" y="173736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6400" b="1">
                <a:solidFill>
                  <a:srgbClr val="B45309"/>
                </a:solidFill>
              </a:defRPr>
            </a:pPr>
            <a:r>
              <a:t>no shared language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800" y="283464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0">
                <a:solidFill>
                  <a:srgbClr val="64748B"/>
                </a:solidFill>
              </a:defRPr>
            </a:pPr>
            <a:r>
              <a:t>for data elements.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41148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0">
                <a:solidFill>
                  <a:srgbClr val="1E293B"/>
                </a:solidFill>
              </a:defRPr>
            </a:pPr>
            <a:r>
              <a:t>5 major ecosystems  ×  5 different formats  ×  0 interoperability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48463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
                  <a:srgbClr val="0E7490"/>
                </a:solidFill>
              </a:defRPr>
            </a:pPr>
            <a:r>
              <a:t>BIDS  •  NWB  •  DANDI  •  openMINDS  •  AIND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812280"/>
            <a:ext cx="12191695" cy="45720"/>
          </a:xfrm>
          <a:prstGeom prst="rect">
            <a:avLst/>
          </a:prstGeom>
          <a:solidFill>
            <a:srgbClr val="0E74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6576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1E293B"/>
                </a:solidFill>
              </a:defRPr>
            </a:pPr>
            <a:r>
              <a:t>Three Problems Nobody Has Solved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05840"/>
            <a:ext cx="1828800" cy="36576"/>
          </a:xfrm>
          <a:prstGeom prst="rect">
            <a:avLst/>
          </a:prstGeom>
          <a:solidFill>
            <a:srgbClr val="0E74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457200" y="1188720"/>
            <a:ext cx="3474720" cy="2560320"/>
          </a:xfrm>
          <a:prstGeom prst="roundRect">
            <a:avLst/>
          </a:prstGeom>
          <a:solidFill>
            <a:srgbClr val="F1F5F9"/>
          </a:solidFill>
          <a:ln w="25400">
            <a:solidFill>
              <a:srgbClr val="0E74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128016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E7490"/>
                </a:solidFill>
              </a:defRPr>
            </a:pPr>
            <a:r>
              <a:t>1  SCHEMA FRAGMENTATION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64592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4748B"/>
                </a:solidFill>
              </a:defRPr>
            </a:pPr>
            <a:r>
              <a:t>Same concept, different formats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874519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4748B"/>
                </a:solidFill>
              </a:defRPr>
            </a:pPr>
            <a:r>
              <a:t>JSON Schema, YAML, LinkML,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10312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4748B"/>
                </a:solidFill>
              </a:defRPr>
            </a:pPr>
            <a:r>
              <a:t>Python classes, JSON-LD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233172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4748B"/>
                </a:solidFill>
              </a:defRPr>
            </a:pPr>
          </a:p>
        </p:txBody>
      </p:sp>
      <p:sp>
        <p:nvSpPr>
          <p:cNvPr id="11" name="TextBox 10"/>
          <p:cNvSpPr txBox="1"/>
          <p:nvPr/>
        </p:nvSpPr>
        <p:spPr>
          <a:xfrm>
            <a:off x="594360" y="256032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4748B"/>
                </a:solidFill>
              </a:defRPr>
            </a:pPr>
            <a:r>
              <a:t>No way to ask: "What does BIDS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278892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4748B"/>
                </a:solidFill>
              </a:defRPr>
            </a:pPr>
            <a:r>
              <a:t>call the thing NWB calls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301752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4748B"/>
                </a:solidFill>
              </a:defRPr>
            </a:pPr>
            <a:r>
              <a:t>ElectrodeArray?"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206240" y="1188720"/>
            <a:ext cx="3474720" cy="2560320"/>
          </a:xfrm>
          <a:prstGeom prst="roundRect">
            <a:avLst/>
          </a:prstGeom>
          <a:solidFill>
            <a:srgbClr val="F1F5F9"/>
          </a:solidFill>
          <a:ln w="25400">
            <a:solidFill>
              <a:srgbClr val="B4530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343400" y="128016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B45309"/>
                </a:solidFill>
              </a:defRPr>
            </a:pPr>
            <a:r>
              <a:t>2  IDENTITY CONFLATION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343400" y="164592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4748B"/>
                </a:solidFill>
              </a:defRPr>
            </a:pPr>
            <a:r>
              <a:t>What something IS ≠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343400" y="1874519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4748B"/>
                </a:solidFill>
              </a:defRPr>
            </a:pPr>
            <a:r>
              <a:t>where it came FROM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343400" y="210312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4748B"/>
                </a:solidFill>
              </a:defRPr>
            </a:pPr>
          </a:p>
        </p:txBody>
      </p:sp>
      <p:sp>
        <p:nvSpPr>
          <p:cNvPr id="19" name="TextBox 18"/>
          <p:cNvSpPr txBox="1"/>
          <p:nvPr/>
        </p:nvSpPr>
        <p:spPr>
          <a:xfrm>
            <a:off x="4343400" y="233172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4748B"/>
                </a:solidFill>
              </a:defRPr>
            </a:pPr>
            <a:r>
              <a:t>'age' in BIDS and 'age' in AIND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343400" y="256032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4748B"/>
                </a:solidFill>
              </a:defRPr>
            </a:pPr>
            <a:r>
              <a:t>are treated as different things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343400" y="278892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4748B"/>
                </a:solidFill>
              </a:defRPr>
            </a:pPr>
            <a:r>
              <a:t>despite being semantically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343400" y="301752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4748B"/>
                </a:solidFill>
              </a:defRPr>
            </a:pPr>
            <a:r>
              <a:t>identical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955279" y="1188720"/>
            <a:ext cx="3474720" cy="2560320"/>
          </a:xfrm>
          <a:prstGeom prst="roundRect">
            <a:avLst/>
          </a:prstGeom>
          <a:solidFill>
            <a:srgbClr val="F1F5F9"/>
          </a:solidFill>
          <a:ln w="25400">
            <a:solidFill>
              <a:srgbClr val="C241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092440" y="128016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C2410C"/>
                </a:solidFill>
              </a:defRPr>
            </a:pPr>
            <a:r>
              <a:t>3  INVISIBLE TRANSFORMS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092440" y="164592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4748B"/>
                </a:solidFill>
              </a:defRPr>
            </a:pPr>
            <a:r>
              <a:t>Silent data transformations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092440" y="1874519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4748B"/>
                </a:solidFill>
              </a:defRPr>
            </a:pPr>
            <a:r>
              <a:t>Unit conversions, type coercions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092440" y="210312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4748B"/>
                </a:solidFill>
              </a:defRPr>
            </a:pPr>
            <a:r>
              <a:t>happen in ad-hoc scripts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092440" y="233172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4748B"/>
                </a:solidFill>
              </a:defRPr>
            </a:pPr>
          </a:p>
        </p:txBody>
      </p:sp>
      <p:sp>
        <p:nvSpPr>
          <p:cNvPr id="29" name="TextBox 28"/>
          <p:cNvSpPr txBox="1"/>
          <p:nvPr/>
        </p:nvSpPr>
        <p:spPr>
          <a:xfrm>
            <a:off x="8092440" y="256032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4748B"/>
                </a:solidFill>
              </a:defRPr>
            </a:pPr>
            <a:r>
              <a:t>No provenance record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092440" y="278892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4748B"/>
                </a:solidFill>
              </a:defRPr>
            </a:pPr>
            <a:r>
              <a:t>Breaking reproducibility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0080" y="402336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64748B"/>
                </a:solidFill>
              </a:defRPr>
            </a:pPr>
            <a:r>
              <a:t>These problems scale with every new dataset, standard, and ecosystem.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812280"/>
            <a:ext cx="12191695" cy="45720"/>
          </a:xfrm>
          <a:prstGeom prst="rect">
            <a:avLst/>
          </a:prstGeom>
          <a:solidFill>
            <a:srgbClr val="0E74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6576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1E293B"/>
                </a:solidFill>
              </a:defRPr>
            </a:pPr>
            <a:r>
              <a:t>Why This Matters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05840"/>
            <a:ext cx="1828800" cy="36576"/>
          </a:xfrm>
          <a:prstGeom prst="rect">
            <a:avLst/>
          </a:prstGeom>
          <a:solidFill>
            <a:srgbClr val="0E74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188720"/>
            <a:ext cx="10058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>
                <a:solidFill>
                  <a:srgbClr val="1E293B"/>
                </a:solidFill>
              </a:defRPr>
              <a:buClr>
                <a:srgbClr val="0E7490"/>
              </a:buClr>
              <a:buChar char="•"/>
            </a:pPr>
            <a:r>
              <a:t>Researchers waste weeks mapping between formats manually</a:t>
            </a:r>
          </a:p>
          <a:p>
            <a:pPr>
              <a:spcAft>
                <a:spcPts val="800"/>
              </a:spcAft>
              <a:defRPr sz="2000">
                <a:solidFill>
                  <a:srgbClr val="1E293B"/>
                </a:solidFill>
              </a:defRPr>
              <a:buClr>
                <a:srgbClr val="0E7490"/>
              </a:buClr>
              <a:buChar char="•"/>
            </a:pPr>
            <a:r>
              <a:t>Cross-ecosystem analyses require heroic bespoke engineering</a:t>
            </a:r>
          </a:p>
          <a:p>
            <a:pPr>
              <a:spcAft>
                <a:spcPts val="800"/>
              </a:spcAft>
              <a:defRPr sz="2000">
                <a:solidFill>
                  <a:srgbClr val="1E293B"/>
                </a:solidFill>
              </a:defRPr>
              <a:buClr>
                <a:srgbClr val="0E7490"/>
              </a:buClr>
              <a:buChar char="•"/>
            </a:pPr>
            <a:r>
              <a:t>Transformations are undocumented → results not reproducible</a:t>
            </a:r>
          </a:p>
          <a:p>
            <a:pPr>
              <a:spcAft>
                <a:spcPts val="800"/>
              </a:spcAft>
              <a:defRPr sz="2000">
                <a:solidFill>
                  <a:srgbClr val="1E293B"/>
                </a:solidFill>
              </a:defRPr>
              <a:buClr>
                <a:srgbClr val="0E7490"/>
              </a:buClr>
              <a:buChar char="•"/>
            </a:pPr>
            <a:r>
              <a:t>New standards fragment the landscape further</a:t>
            </a:r>
          </a:p>
          <a:p>
            <a:pPr>
              <a:spcAft>
                <a:spcPts val="800"/>
              </a:spcAft>
              <a:defRPr sz="2000">
                <a:solidFill>
                  <a:srgbClr val="1E293B"/>
                </a:solidFill>
              </a:defRPr>
              <a:buClr>
                <a:srgbClr val="0E7490"/>
              </a:buClr>
              <a:buChar char="•"/>
            </a:pPr>
            <a:r>
              <a:t>No machine-readable crosswalk between any two ecosystems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30352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B45309"/>
                </a:solidFill>
              </a:defRPr>
            </a:pPr>
            <a:r>
              <a:t>The cost compounds with every dataset, every study, every collaboration.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812280"/>
            <a:ext cx="12191695" cy="45720"/>
          </a:xfrm>
          <a:prstGeom prst="rect">
            <a:avLst/>
          </a:prstGeom>
          <a:solidFill>
            <a:srgbClr val="0E74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6576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1E293B"/>
                </a:solidFill>
              </a:defRPr>
            </a:pPr>
            <a:r>
              <a:t>Three Core Innovations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05840"/>
            <a:ext cx="1828800" cy="36576"/>
          </a:xfrm>
          <a:prstGeom prst="rect">
            <a:avLst/>
          </a:prstGeom>
          <a:solidFill>
            <a:srgbClr val="0E74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457200" y="1188720"/>
            <a:ext cx="3474720" cy="2926080"/>
          </a:xfrm>
          <a:prstGeom prst="roundRect">
            <a:avLst/>
          </a:prstGeom>
          <a:solidFill>
            <a:srgbClr val="F1F5F9"/>
          </a:solidFill>
          <a:ln w="25400">
            <a:solidFill>
              <a:srgbClr val="1580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128016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5803D"/>
                </a:solidFill>
              </a:defRPr>
            </a:pPr>
            <a:r>
              <a:t>CONTENT-ADDRESSED IDENTITY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64592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4748B"/>
                </a:solidFill>
              </a:defRPr>
            </a:pPr>
            <a:r>
              <a:t>SHA-256 hash from semantic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874519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4748B"/>
                </a:solidFill>
              </a:defRPr>
            </a:pPr>
            <a:r>
              <a:t>properties (data type, unit,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10312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4748B"/>
                </a:solidFill>
              </a:defRPr>
            </a:pPr>
            <a:r>
              <a:t>pattern, constraints, ontology)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233172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4748B"/>
                </a:solidFill>
              </a:defRPr>
            </a:pPr>
          </a:p>
        </p:txBody>
      </p:sp>
      <p:sp>
        <p:nvSpPr>
          <p:cNvPr id="11" name="TextBox 10"/>
          <p:cNvSpPr txBox="1"/>
          <p:nvPr/>
        </p:nvSpPr>
        <p:spPr>
          <a:xfrm>
            <a:off x="594360" y="256032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4748B"/>
                </a:solidFill>
              </a:defRPr>
            </a:pPr>
            <a:r>
              <a:t>Two elements from different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278892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4748B"/>
                </a:solidFill>
              </a:defRPr>
            </a:pPr>
            <a:r>
              <a:t>sources describing the same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301752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4748B"/>
                </a:solidFill>
              </a:defRPr>
            </a:pPr>
            <a:r>
              <a:t>concept → same hash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4360" y="324612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4748B"/>
                </a:solidFill>
              </a:defRPr>
            </a:pPr>
            <a:r>
              <a:t>automatically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206240" y="1188720"/>
            <a:ext cx="3474720" cy="2926080"/>
          </a:xfrm>
          <a:prstGeom prst="roundRect">
            <a:avLst/>
          </a:prstGeom>
          <a:solidFill>
            <a:srgbClr val="F1F5F9"/>
          </a:solidFill>
          <a:ln w="25400">
            <a:solidFill>
              <a:srgbClr val="0E74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343400" y="128016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E7490"/>
                </a:solidFill>
              </a:defRPr>
            </a:pPr>
            <a:r>
              <a:t>IDENTITY ≠ PROVENANCE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343400" y="164592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4748B"/>
                </a:solidFill>
              </a:defRPr>
            </a:pPr>
            <a:r>
              <a:t>An element's identity (what it IS)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343400" y="1874519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4748B"/>
                </a:solidFill>
              </a:defRPr>
            </a:pPr>
            <a:r>
              <a:t>is separate from provenance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343400" y="210312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4748B"/>
                </a:solidFill>
              </a:defRPr>
            </a:pPr>
            <a:r>
              <a:t>(where it came FROM)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343400" y="233172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4748B"/>
                </a:solidFill>
              </a:defRPr>
            </a:pPr>
          </a:p>
        </p:txBody>
      </p:sp>
      <p:sp>
        <p:nvSpPr>
          <p:cNvPr id="21" name="TextBox 20"/>
          <p:cNvSpPr txBox="1"/>
          <p:nvPr/>
        </p:nvSpPr>
        <p:spPr>
          <a:xfrm>
            <a:off x="4343400" y="256032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4748B"/>
                </a:solidFill>
              </a:defRPr>
            </a:pPr>
            <a:r>
              <a:t>A single element accumulates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343400" y="278892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4748B"/>
                </a:solidFill>
              </a:defRPr>
            </a:pPr>
            <a:r>
              <a:t>provenance from multiple sources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343400" y="301752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4748B"/>
                </a:solidFill>
              </a:defRPr>
            </a:pPr>
            <a:r>
              <a:t>instead of duplicating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955279" y="1188720"/>
            <a:ext cx="3474720" cy="2926080"/>
          </a:xfrm>
          <a:prstGeom prst="roundRect">
            <a:avLst/>
          </a:prstGeom>
          <a:solidFill>
            <a:srgbClr val="F1F5F9"/>
          </a:solidFill>
          <a:ln w="25400">
            <a:solidFill>
              <a:srgbClr val="B4530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092440" y="128016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B45309"/>
                </a:solidFill>
              </a:defRPr>
            </a:pPr>
            <a:r>
              <a:t>EXPLICIT TRANSFORMS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092440" y="164592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4748B"/>
                </a:solidFill>
              </a:defRPr>
            </a:pPr>
            <a:r>
              <a:t>Every conversion documented: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092440" y="1874519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4748B"/>
                </a:solidFill>
              </a:defRPr>
            </a:pPr>
            <a:r>
              <a:t>• Unit (years → months)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092440" y="210312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4748B"/>
                </a:solidFill>
              </a:defRPr>
            </a:pPr>
            <a:r>
              <a:t>• Type (float → string)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092440" y="233172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4748B"/>
                </a:solidFill>
              </a:defRPr>
            </a:pPr>
            <a:r>
              <a:t>• Value (M/F → male/female)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092440" y="256032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4748B"/>
                </a:solidFill>
              </a:defRPr>
            </a:pPr>
          </a:p>
        </p:txBody>
      </p:sp>
      <p:sp>
        <p:nvSpPr>
          <p:cNvPr id="31" name="TextBox 30"/>
          <p:cNvSpPr txBox="1"/>
          <p:nvPr/>
        </p:nvSpPr>
        <p:spPr>
          <a:xfrm>
            <a:off x="8092440" y="278892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4748B"/>
                </a:solidFill>
              </a:defRPr>
            </a:pPr>
            <a:r>
              <a:t>Content-addressed with their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092440" y="301752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4748B"/>
                </a:solidFill>
              </a:defRPr>
            </a:pPr>
            <a:r>
              <a:t>own provenance chains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812280"/>
            <a:ext cx="12191695" cy="45720"/>
          </a:xfrm>
          <a:prstGeom prst="rect">
            <a:avLst/>
          </a:prstGeom>
          <a:solidFill>
            <a:srgbClr val="0E74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6576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1E293B"/>
                </a:solidFill>
              </a:defRPr>
            </a:pPr>
            <a:r>
              <a:t>The undata Pipeline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05840"/>
            <a:ext cx="1828800" cy="36576"/>
          </a:xfrm>
          <a:prstGeom prst="rect">
            <a:avLst/>
          </a:prstGeom>
          <a:solidFill>
            <a:srgbClr val="0E74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457200" y="1188720"/>
            <a:ext cx="2011680" cy="1645920"/>
          </a:xfrm>
          <a:prstGeom prst="roundRect">
            <a:avLst/>
          </a:prstGeom>
          <a:solidFill>
            <a:srgbClr val="F1F5F9"/>
          </a:solidFill>
          <a:ln w="25400">
            <a:solidFill>
              <a:srgbClr val="0E74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1280160"/>
            <a:ext cx="1737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E7490"/>
                </a:solidFill>
              </a:defRPr>
            </a:pPr>
            <a:r>
              <a:t>Extract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645920"/>
            <a:ext cx="1737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4748B"/>
                </a:solidFill>
              </a:defRPr>
            </a:pPr>
            <a:r>
              <a:t>Source adapters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874519"/>
            <a:ext cx="1737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4748B"/>
                </a:solidFill>
              </a:defRPr>
            </a:pPr>
            <a:r>
              <a:t>→ LinkML → entities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514600" y="1828800"/>
            <a:ext cx="274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0">
                <a:solidFill>
                  <a:srgbClr val="64748B"/>
                </a:solidFill>
              </a:defRPr>
            </a:pPr>
            <a:r>
              <a:t>→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743200" y="1188720"/>
            <a:ext cx="2011680" cy="1645920"/>
          </a:xfrm>
          <a:prstGeom prst="roundRect">
            <a:avLst/>
          </a:prstGeom>
          <a:solidFill>
            <a:srgbClr val="F1F5F9"/>
          </a:solidFill>
          <a:ln w="25400">
            <a:solidFill>
              <a:srgbClr val="1580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880360" y="1280160"/>
            <a:ext cx="1737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5803D"/>
                </a:solidFill>
              </a:defRPr>
            </a:pPr>
            <a:r>
              <a:t>Enrich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880360" y="1645920"/>
            <a:ext cx="1737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4748B"/>
                </a:solidFill>
              </a:defRPr>
            </a:pPr>
            <a:r>
              <a:t>Embedding similarity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880360" y="1874519"/>
            <a:ext cx="1737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4748B"/>
                </a:solidFill>
              </a:defRPr>
            </a:pPr>
            <a:r>
              <a:t>+ LLM verification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00600" y="1828800"/>
            <a:ext cx="274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0">
                <a:solidFill>
                  <a:srgbClr val="64748B"/>
                </a:solidFill>
              </a:defRPr>
            </a:pPr>
            <a:r>
              <a:t>→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029200" y="1188720"/>
            <a:ext cx="2011680" cy="1645920"/>
          </a:xfrm>
          <a:prstGeom prst="roundRect">
            <a:avLst/>
          </a:prstGeom>
          <a:solidFill>
            <a:srgbClr val="F1F5F9"/>
          </a:solidFill>
          <a:ln w="25400">
            <a:solidFill>
              <a:srgbClr val="B4530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166360" y="1280160"/>
            <a:ext cx="1737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B45309"/>
                </a:solidFill>
              </a:defRPr>
            </a:pPr>
            <a:r>
              <a:t>Align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166360" y="1645920"/>
            <a:ext cx="1737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4748B"/>
                </a:solidFill>
              </a:defRPr>
            </a:pPr>
            <a:r>
              <a:t>Cross-source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166360" y="1874519"/>
            <a:ext cx="1737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4748B"/>
                </a:solidFill>
              </a:defRPr>
            </a:pPr>
            <a:r>
              <a:t>alias detection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086600" y="1828800"/>
            <a:ext cx="274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0">
                <a:solidFill>
                  <a:srgbClr val="64748B"/>
                </a:solidFill>
              </a:defRPr>
            </a:pPr>
            <a:r>
              <a:t>→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315200" y="1188720"/>
            <a:ext cx="2011680" cy="1645920"/>
          </a:xfrm>
          <a:prstGeom prst="roundRect">
            <a:avLst/>
          </a:prstGeom>
          <a:solidFill>
            <a:srgbClr val="F1F5F9"/>
          </a:solidFill>
          <a:ln w="25400">
            <a:solidFill>
              <a:srgbClr val="C241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452360" y="1280160"/>
            <a:ext cx="1737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C2410C"/>
                </a:solidFill>
              </a:defRPr>
            </a:pPr>
            <a:r>
              <a:t>Commit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452360" y="1645920"/>
            <a:ext cx="1737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4748B"/>
                </a:solidFill>
              </a:defRPr>
            </a:pPr>
            <a:r>
              <a:t>Content addressing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452360" y="1874519"/>
            <a:ext cx="1737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4748B"/>
                </a:solidFill>
              </a:defRPr>
            </a:pPr>
            <a:r>
              <a:t>+ dedup + merge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372600" y="1828800"/>
            <a:ext cx="274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0">
                <a:solidFill>
                  <a:srgbClr val="64748B"/>
                </a:solidFill>
              </a:defRPr>
            </a:pPr>
            <a:r>
              <a:t>→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601200" y="1188720"/>
            <a:ext cx="2011680" cy="1645920"/>
          </a:xfrm>
          <a:prstGeom prst="roundRect">
            <a:avLst/>
          </a:prstGeom>
          <a:solidFill>
            <a:srgbClr val="F1F5F9"/>
          </a:solidFill>
          <a:ln w="25400">
            <a:solidFill>
              <a:srgbClr val="7E22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738360" y="1280160"/>
            <a:ext cx="1737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7E22CE"/>
                </a:solidFill>
              </a:defRPr>
            </a:pPr>
            <a:r>
              <a:t>Transform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738360" y="1645920"/>
            <a:ext cx="1737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4748B"/>
                </a:solidFill>
              </a:defRPr>
            </a:pPr>
            <a:r>
              <a:t>Conversion logic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738360" y="1874519"/>
            <a:ext cx="1737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4748B"/>
                </a:solidFill>
              </a:defRPr>
            </a:pPr>
            <a:r>
              <a:t>generation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0080" y="320040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64748B"/>
                </a:solidFill>
              </a:defRPr>
            </a:pPr>
            <a:r>
              <a:t>Sources: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0080" y="347472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E293B"/>
                </a:solidFill>
              </a:defRPr>
            </a:pPr>
            <a:r>
              <a:t>BIDS • NWB • DANDI • openMINDS • AIND • OpenNeuro • ReproSchema • NDA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0080" y="393192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64748B"/>
                </a:solidFill>
              </a:defRPr>
            </a:pPr>
            <a:r>
              <a:t>Knowledge Service: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0080" y="420624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0E7490"/>
                </a:solidFill>
              </a:defRPr>
            </a:pPr>
            <a:r>
              <a:t>13 ontologies  •  2.99M terms  •  268K embedded  •  pyoxigraph RDF store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812280"/>
            <a:ext cx="12191695" cy="45720"/>
          </a:xfrm>
          <a:prstGeom prst="rect">
            <a:avLst/>
          </a:prstGeom>
          <a:solidFill>
            <a:srgbClr val="0E74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6576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1E293B"/>
                </a:solidFill>
              </a:defRPr>
            </a:pPr>
            <a:r>
              <a:t>Three-Layer Architecture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05840"/>
            <a:ext cx="1828800" cy="36576"/>
          </a:xfrm>
          <a:prstGeom prst="rect">
            <a:avLst/>
          </a:prstGeom>
          <a:solidFill>
            <a:srgbClr val="0E74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457200" y="1188720"/>
            <a:ext cx="3474720" cy="2286000"/>
          </a:xfrm>
          <a:prstGeom prst="roundRect">
            <a:avLst/>
          </a:prstGeom>
          <a:solidFill>
            <a:srgbClr val="F1F5F9"/>
          </a:solidFill>
          <a:ln w="25400">
            <a:solidFill>
              <a:srgbClr val="0E74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128016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E7490"/>
                </a:solidFill>
              </a:defRPr>
            </a:pPr>
            <a:r>
              <a:t>FRONTEND — Next.js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64592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4748B"/>
                </a:solidFill>
              </a:defRPr>
            </a:pPr>
            <a:r>
              <a:t>Apollo Client + Tailwind CSS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874519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4748B"/>
                </a:solidFill>
              </a:defRPr>
            </a:pPr>
            <a:r>
              <a:t>Browse, search, curation, chat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10312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4748B"/>
                </a:solidFill>
              </a:defRPr>
            </a:pPr>
            <a:r>
              <a:t>Entity navigator (ER diagram)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233172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4748B"/>
                </a:solidFill>
              </a:defRPr>
            </a:pPr>
            <a:r>
              <a:t>Infinite scroll + server-side sort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256032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4748B"/>
                </a:solidFill>
              </a:defRPr>
            </a:pPr>
            <a:r>
              <a:t>Real-time LLM curation assistant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206240" y="1188720"/>
            <a:ext cx="3474720" cy="2286000"/>
          </a:xfrm>
          <a:prstGeom prst="roundRect">
            <a:avLst/>
          </a:prstGeom>
          <a:solidFill>
            <a:srgbClr val="F1F5F9"/>
          </a:solidFill>
          <a:ln w="25400">
            <a:solidFill>
              <a:srgbClr val="B4530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343400" y="128016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B45309"/>
                </a:solidFill>
              </a:defRPr>
            </a:pPr>
            <a:r>
              <a:t>BACKEND — FastAPI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43400" y="164592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4748B"/>
                </a:solidFill>
              </a:defRPr>
            </a:pPr>
            <a:r>
              <a:t>Strawberry GraphQL + PostgreSQL 16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343400" y="1874519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4748B"/>
                </a:solidFill>
              </a:defRPr>
            </a:pPr>
            <a:r>
              <a:t>pgvector for embeddings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343400" y="210312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4748B"/>
                </a:solidFill>
              </a:defRPr>
            </a:pPr>
            <a:r>
              <a:t>JSONB for flexible entity storage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343400" y="233172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4748B"/>
                </a:solidFill>
              </a:defRPr>
            </a:pPr>
            <a:r>
              <a:t>Keycloak OIDC authentication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343400" y="256032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4748B"/>
                </a:solidFill>
              </a:defRPr>
            </a:pPr>
            <a:r>
              <a:t>PROV-O audit trail for all mutations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955279" y="1188720"/>
            <a:ext cx="3474720" cy="2286000"/>
          </a:xfrm>
          <a:prstGeom prst="roundRect">
            <a:avLst/>
          </a:prstGeom>
          <a:solidFill>
            <a:srgbClr val="F1F5F9"/>
          </a:solidFill>
          <a:ln w="25400">
            <a:solidFill>
              <a:srgbClr val="1580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092440" y="128016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5803D"/>
                </a:solidFill>
              </a:defRPr>
            </a:pPr>
            <a:r>
              <a:t>LIBRARY — Pure Python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092440" y="164592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4748B"/>
                </a:solidFill>
              </a:defRPr>
            </a:pPr>
            <a:r>
              <a:t>No DB dependencies, standalone CLI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092440" y="1874519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4748B"/>
                </a:solidFill>
              </a:defRPr>
            </a:pPr>
            <a:r>
              <a:t>All pipeline logic: extract → transform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092440" y="210312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4748B"/>
                </a:solidFill>
              </a:defRPr>
            </a:pPr>
            <a:r>
              <a:t>StorageBackend protocol (file or DB)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092440" y="233172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4748B"/>
                </a:solidFill>
              </a:defRPr>
            </a:pPr>
            <a:r>
              <a:t>436 tests, Python 3.14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092440" y="256032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4748B"/>
                </a:solidFill>
              </a:defRPr>
            </a:pPr>
            <a:r>
              <a:t>uv for dependency management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080" y="3749039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1E293B"/>
                </a:solidFill>
              </a:defRPr>
            </a:pPr>
            <a:r>
              <a:t>StorageBackend Protocol:  read() • write() • list() • exists() • delete() • merge_provenance()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0080" y="411480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64748B"/>
                </a:solidFill>
              </a:defRPr>
            </a:pPr>
            <a:r>
              <a:t>FileBackend (YAML + Parquet + pyoxigraph)  |  DatabaseBackend (PostgreSQL + pgvector)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812280"/>
            <a:ext cx="12191695" cy="45720"/>
          </a:xfrm>
          <a:prstGeom prst="rect">
            <a:avLst/>
          </a:prstGeom>
          <a:solidFill>
            <a:srgbClr val="0E74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6576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1E293B"/>
                </a:solidFill>
              </a:defRPr>
            </a:pPr>
            <a:r>
              <a:t>Content-Addressed Entity Model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05840"/>
            <a:ext cx="1828800" cy="36576"/>
          </a:xfrm>
          <a:prstGeom prst="rect">
            <a:avLst/>
          </a:prstGeom>
          <a:solidFill>
            <a:srgbClr val="0E74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457200" y="1188720"/>
            <a:ext cx="2560320" cy="2560320"/>
          </a:xfrm>
          <a:prstGeom prst="roundRect">
            <a:avLst/>
          </a:prstGeom>
          <a:solidFill>
            <a:srgbClr val="F1F5F9"/>
          </a:solidFill>
          <a:ln w="25400">
            <a:solidFill>
              <a:srgbClr val="0E74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128016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E7490"/>
                </a:solidFill>
              </a:defRPr>
            </a:pPr>
            <a:r>
              <a:t>Element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64592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4748B"/>
                </a:solidFill>
              </a:defRPr>
            </a:pPr>
            <a:r>
              <a:t>Field-level: age, weight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874519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4748B"/>
                </a:solidFill>
              </a:defRPr>
            </a:pPr>
            <a:r>
              <a:t>type, unit, constraints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10312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4748B"/>
                </a:solidFill>
              </a:defRPr>
            </a:pPr>
          </a:p>
        </p:txBody>
      </p:sp>
      <p:sp>
        <p:nvSpPr>
          <p:cNvPr id="10" name="TextBox 9"/>
          <p:cNvSpPr txBox="1"/>
          <p:nvPr/>
        </p:nvSpPr>
        <p:spPr>
          <a:xfrm>
            <a:off x="594360" y="233172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4748B"/>
                </a:solidFill>
              </a:defRPr>
            </a:pPr>
            <a:r>
              <a:t>sha256 (identity)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256032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4748B"/>
                </a:solidFill>
              </a:defRPr>
            </a:pPr>
            <a:r>
              <a:t>semantic{} (content)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278892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4748B"/>
                </a:solidFill>
              </a:defRPr>
            </a:pPr>
            <a:r>
              <a:t>provenance[] (origins)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301752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4748B"/>
                </a:solidFill>
              </a:defRPr>
            </a:pPr>
            <a:r>
              <a:t>annotations[] (ontology)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291840" y="1188720"/>
            <a:ext cx="2560320" cy="2560320"/>
          </a:xfrm>
          <a:prstGeom prst="roundRect">
            <a:avLst/>
          </a:prstGeom>
          <a:solidFill>
            <a:srgbClr val="F1F5F9"/>
          </a:solidFill>
          <a:ln w="25400">
            <a:solidFill>
              <a:srgbClr val="B4530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429000" y="128016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B45309"/>
                </a:solidFill>
              </a:defRPr>
            </a:pPr>
            <a:r>
              <a:t>Schema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429000" y="164592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4748B"/>
                </a:solidFill>
              </a:defRPr>
            </a:pPr>
            <a:r>
              <a:t>Class-level: Subject, Session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429000" y="1874519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4748B"/>
                </a:solidFill>
              </a:defRPr>
            </a:pPr>
            <a:r>
              <a:t>properties, inheritance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429000" y="210312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4748B"/>
                </a:solidFill>
              </a:defRPr>
            </a:pPr>
          </a:p>
        </p:txBody>
      </p:sp>
      <p:sp>
        <p:nvSpPr>
          <p:cNvPr id="19" name="TextBox 18"/>
          <p:cNvSpPr txBox="1"/>
          <p:nvPr/>
        </p:nvSpPr>
        <p:spPr>
          <a:xfrm>
            <a:off x="3429000" y="233172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4748B"/>
                </a:solidFill>
              </a:defRPr>
            </a:pPr>
            <a:r>
              <a:t>sha256 (identity)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429000" y="256032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4748B"/>
                </a:solidFill>
              </a:defRPr>
            </a:pPr>
            <a:r>
              <a:t>semantic{} (content)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429000" y="278892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4748B"/>
                </a:solidFill>
              </a:defRPr>
            </a:pPr>
            <a:r>
              <a:t>provenance[] (origins)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429000" y="301752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4748B"/>
                </a:solidFill>
              </a:defRPr>
            </a:pPr>
            <a:r>
              <a:t>annotations[] (ontology)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126480" y="1188720"/>
            <a:ext cx="2560320" cy="2560320"/>
          </a:xfrm>
          <a:prstGeom prst="roundRect">
            <a:avLst/>
          </a:prstGeom>
          <a:solidFill>
            <a:srgbClr val="F1F5F9"/>
          </a:solidFill>
          <a:ln w="25400">
            <a:solidFill>
              <a:srgbClr val="1580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263640" y="128016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5803D"/>
                </a:solidFill>
              </a:defRPr>
            </a:pPr>
            <a:r>
              <a:t>Value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263640" y="164592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4748B"/>
                </a:solidFill>
              </a:defRPr>
            </a:pPr>
            <a:r>
              <a:t>Categorical: male, MRI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263640" y="1874519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4748B"/>
                </a:solidFill>
              </a:defRPr>
            </a:pPr>
            <a:r>
              <a:t>ontology grounding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263640" y="210312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4748B"/>
                </a:solidFill>
              </a:defRPr>
            </a:pPr>
          </a:p>
        </p:txBody>
      </p:sp>
      <p:sp>
        <p:nvSpPr>
          <p:cNvPr id="28" name="TextBox 27"/>
          <p:cNvSpPr txBox="1"/>
          <p:nvPr/>
        </p:nvSpPr>
        <p:spPr>
          <a:xfrm>
            <a:off x="6263640" y="233172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4748B"/>
                </a:solidFill>
              </a:defRPr>
            </a:pPr>
            <a:r>
              <a:t>sha256 (identity)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263640" y="256032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4748B"/>
                </a:solidFill>
              </a:defRPr>
            </a:pPr>
            <a:r>
              <a:t>semantic{} (content)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263640" y="278892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4748B"/>
                </a:solidFill>
              </a:defRPr>
            </a:pPr>
            <a:r>
              <a:t>provenance[] (origins)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263640" y="301752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4748B"/>
                </a:solidFill>
              </a:defRPr>
            </a:pPr>
            <a:r>
              <a:t>annotations[] (ontology)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8961120" y="1188720"/>
            <a:ext cx="2560320" cy="2560320"/>
          </a:xfrm>
          <a:prstGeom prst="roundRect">
            <a:avLst/>
          </a:prstGeom>
          <a:solidFill>
            <a:srgbClr val="F1F5F9"/>
          </a:solidFill>
          <a:ln w="25400">
            <a:solidFill>
              <a:srgbClr val="C241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098280" y="128016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C2410C"/>
                </a:solidFill>
              </a:defRPr>
            </a:pPr>
            <a:r>
              <a:t>ValueSet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098280" y="164592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4748B"/>
                </a:solidFill>
              </a:defRPr>
            </a:pPr>
            <a:r>
              <a:t>Collection: modalities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098280" y="1874519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4748B"/>
                </a:solidFill>
              </a:defRPr>
            </a:pPr>
            <a:r>
              <a:t>members list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098280" y="210312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4748B"/>
                </a:solidFill>
              </a:defRPr>
            </a:pPr>
          </a:p>
        </p:txBody>
      </p:sp>
      <p:sp>
        <p:nvSpPr>
          <p:cNvPr id="37" name="TextBox 36"/>
          <p:cNvSpPr txBox="1"/>
          <p:nvPr/>
        </p:nvSpPr>
        <p:spPr>
          <a:xfrm>
            <a:off x="9098280" y="233172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4748B"/>
                </a:solidFill>
              </a:defRPr>
            </a:pPr>
            <a:r>
              <a:t>sha256 (identity)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098280" y="256032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4748B"/>
                </a:solidFill>
              </a:defRPr>
            </a:pPr>
            <a:r>
              <a:t>semantic{} (content)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098280" y="278892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4748B"/>
                </a:solidFill>
              </a:defRPr>
            </a:pPr>
            <a:r>
              <a:t>provenance[] (origins)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098280" y="301752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4748B"/>
                </a:solidFill>
              </a:defRPr>
            </a:pPr>
            <a:r>
              <a:t>annotations[] (ontology)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40080" y="402336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0E7490"/>
                </a:solidFill>
              </a:defRPr>
            </a:pPr>
            <a:r>
              <a:t>+ Transform (conversions)  + CurationFlag (quality)  + AuditLog (provenance)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40080" y="438912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64748B"/>
                </a:solidFill>
              </a:defRPr>
            </a:pPr>
            <a:r>
              <a:t>All entities: staged → curated through curator review. No automated changes without evidence.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812280"/>
            <a:ext cx="12191695" cy="45720"/>
          </a:xfrm>
          <a:prstGeom prst="rect">
            <a:avLst/>
          </a:prstGeom>
          <a:solidFill>
            <a:srgbClr val="0E74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6576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1E293B"/>
                </a:solidFill>
              </a:defRPr>
            </a:pPr>
            <a:r>
              <a:t>Multi-Precision Enrichment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05840"/>
            <a:ext cx="1828800" cy="36576"/>
          </a:xfrm>
          <a:prstGeom prst="rect">
            <a:avLst/>
          </a:prstGeom>
          <a:solidFill>
            <a:srgbClr val="0E74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188720"/>
            <a:ext cx="10058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>
                <a:solidFill>
                  <a:srgbClr val="1E293B"/>
                </a:solidFill>
              </a:defRPr>
              <a:buClr>
                <a:srgbClr val="0E7490"/>
              </a:buClr>
              <a:buChar char="•"/>
            </a:pPr>
            <a:r>
              <a:t>Embedding similarity: all-MiniLM-L6-v2 → cosine similarity to 268K ontology terms</a:t>
            </a:r>
          </a:p>
          <a:p>
            <a:pPr>
              <a:spcAft>
                <a:spcPts val="800"/>
              </a:spcAft>
              <a:defRPr sz="2000">
                <a:solidFill>
                  <a:srgbClr val="1E293B"/>
                </a:solidFill>
              </a:defRPr>
              <a:buClr>
                <a:srgbClr val="0E7490"/>
              </a:buClr>
              <a:buChar char="•"/>
            </a:pPr>
            <a:r>
              <a:t>SKOS mapping: exactMatch (≥0.95) • closeMatch (≥0.85) • broadMatch • relatedMatch</a:t>
            </a:r>
          </a:p>
          <a:p>
            <a:pPr>
              <a:spcAft>
                <a:spcPts val="800"/>
              </a:spcAft>
              <a:defRPr sz="2000">
                <a:solidFill>
                  <a:srgbClr val="1E293B"/>
                </a:solidFill>
              </a:defRPr>
              <a:buClr>
                <a:srgbClr val="0E7490"/>
              </a:buClr>
              <a:buChar char="•"/>
            </a:pPr>
            <a:r>
              <a:t>LLM verification for borderline matches (0.5–0.7) via litellm</a:t>
            </a:r>
          </a:p>
          <a:p>
            <a:pPr>
              <a:spcAft>
                <a:spcPts val="800"/>
              </a:spcAft>
              <a:defRPr sz="2000">
                <a:solidFill>
                  <a:srgbClr val="1E293B"/>
                </a:solidFill>
              </a:defRPr>
              <a:buClr>
                <a:srgbClr val="0E7490"/>
              </a:buClr>
              <a:buChar char="•"/>
            </a:pPr>
            <a:r>
              <a:t>Ontology hierarchy traversal: ancestors added as broadMatch</a:t>
            </a:r>
          </a:p>
          <a:p>
            <a:pPr>
              <a:spcAft>
                <a:spcPts val="800"/>
              </a:spcAft>
              <a:defRPr sz="2000">
                <a:solidFill>
                  <a:srgbClr val="1E293B"/>
                </a:solidFill>
              </a:defRPr>
              <a:buClr>
                <a:srgbClr val="0E7490"/>
              </a:buClr>
              <a:buChar char="•"/>
            </a:pPr>
            <a:r>
              <a:t>Evidence Chain for every annotation: score + URI verification + reasoning</a:t>
            </a:r>
          </a:p>
          <a:p>
            <a:pPr>
              <a:spcAft>
                <a:spcPts val="800"/>
              </a:spcAft>
              <a:defRPr sz="2000">
                <a:solidFill>
                  <a:srgbClr val="1E293B"/>
                </a:solidFill>
              </a:defRPr>
              <a:buClr>
                <a:srgbClr val="0E7490"/>
              </a:buClr>
              <a:buChar char="•"/>
            </a:pPr>
            <a:r>
              <a:t>Curated annotations protected from re-enrichment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30352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B45309"/>
                </a:solidFill>
              </a:defRPr>
            </a:pPr>
            <a:r>
              <a:t>NCBITaxon filtered to 20 neuroscience-relevant species (from 2.7M terms)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812280"/>
            <a:ext cx="12191695" cy="45720"/>
          </a:xfrm>
          <a:prstGeom prst="rect">
            <a:avLst/>
          </a:prstGeom>
          <a:solidFill>
            <a:srgbClr val="0E74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6576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1E293B"/>
                </a:solidFill>
              </a:defRPr>
            </a:pPr>
            <a:r>
              <a:t>Engineering Process: Speckit Lifecycle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05840"/>
            <a:ext cx="1828800" cy="36576"/>
          </a:xfrm>
          <a:prstGeom prst="rect">
            <a:avLst/>
          </a:prstGeom>
          <a:solidFill>
            <a:srgbClr val="0E74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274320" y="1188720"/>
            <a:ext cx="1737360" cy="1645920"/>
          </a:xfrm>
          <a:prstGeom prst="roundRect">
            <a:avLst/>
          </a:prstGeom>
          <a:solidFill>
            <a:srgbClr val="F1F5F9"/>
          </a:solidFill>
          <a:ln w="25400">
            <a:solidFill>
              <a:srgbClr val="0E74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79" y="1280160"/>
            <a:ext cx="146303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E7490"/>
                </a:solidFill>
              </a:defRPr>
            </a:pPr>
            <a:r>
              <a:t>/speckit.specify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79" y="1645920"/>
            <a:ext cx="146303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4748B"/>
                </a:solidFill>
              </a:defRPr>
            </a:pPr>
            <a:r>
              <a:t>User stories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79" y="1874519"/>
            <a:ext cx="146303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4748B"/>
                </a:solidFill>
              </a:defRPr>
            </a:pPr>
            <a:r>
              <a:t>Acceptance criteria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057400" y="1828800"/>
            <a:ext cx="182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64748B"/>
                </a:solidFill>
              </a:defRPr>
            </a:pPr>
            <a:r>
              <a:t>→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194560" y="1188720"/>
            <a:ext cx="1737360" cy="1645920"/>
          </a:xfrm>
          <a:prstGeom prst="roundRect">
            <a:avLst/>
          </a:prstGeom>
          <a:solidFill>
            <a:srgbClr val="F1F5F9"/>
          </a:solidFill>
          <a:ln w="25400">
            <a:solidFill>
              <a:srgbClr val="B4530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331720" y="1280160"/>
            <a:ext cx="146303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B45309"/>
                </a:solidFill>
              </a:defRPr>
            </a:pPr>
            <a:r>
              <a:t>/speckit.clarify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331720" y="1645920"/>
            <a:ext cx="146303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4748B"/>
                </a:solidFill>
              </a:defRPr>
            </a:pPr>
            <a:r>
              <a:t>Ambiguity detection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331720" y="1874519"/>
            <a:ext cx="146303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4748B"/>
                </a:solidFill>
              </a:defRPr>
            </a:pPr>
            <a:r>
              <a:t>Spec updates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977639" y="1828800"/>
            <a:ext cx="182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64748B"/>
                </a:solidFill>
              </a:defRPr>
            </a:pPr>
            <a:r>
              <a:t>→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114800" y="1188720"/>
            <a:ext cx="1737360" cy="1645920"/>
          </a:xfrm>
          <a:prstGeom prst="roundRect">
            <a:avLst/>
          </a:prstGeom>
          <a:solidFill>
            <a:srgbClr val="F1F5F9"/>
          </a:solidFill>
          <a:ln w="25400">
            <a:solidFill>
              <a:srgbClr val="0E74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251960" y="1280160"/>
            <a:ext cx="146303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E7490"/>
                </a:solidFill>
              </a:defRPr>
            </a:pPr>
            <a:r>
              <a:t>/speckit.plan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251960" y="1645920"/>
            <a:ext cx="146303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4748B"/>
                </a:solidFill>
              </a:defRPr>
            </a:pPr>
            <a:r>
              <a:t>Architecture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251960" y="1874519"/>
            <a:ext cx="146303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4748B"/>
                </a:solidFill>
              </a:defRPr>
            </a:pPr>
            <a:r>
              <a:t>Data model, contracts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897880" y="1828800"/>
            <a:ext cx="182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64748B"/>
                </a:solidFill>
              </a:defRPr>
            </a:pPr>
            <a:r>
              <a:t>→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035040" y="1188720"/>
            <a:ext cx="1737360" cy="1645920"/>
          </a:xfrm>
          <a:prstGeom prst="roundRect">
            <a:avLst/>
          </a:prstGeom>
          <a:solidFill>
            <a:srgbClr val="F1F5F9"/>
          </a:solidFill>
          <a:ln w="25400">
            <a:solidFill>
              <a:srgbClr val="B4530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172200" y="1280160"/>
            <a:ext cx="146303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B45309"/>
                </a:solidFill>
              </a:defRPr>
            </a:pPr>
            <a:r>
              <a:t>/speckit.tasks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172200" y="1645920"/>
            <a:ext cx="146303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4748B"/>
                </a:solidFill>
              </a:defRPr>
            </a:pPr>
            <a:r>
              <a:t>Dependency-ordered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172200" y="1874519"/>
            <a:ext cx="146303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4748B"/>
                </a:solidFill>
              </a:defRPr>
            </a:pPr>
            <a:r>
              <a:t>task breakdown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818120" y="1828800"/>
            <a:ext cx="182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64748B"/>
                </a:solidFill>
              </a:defRPr>
            </a:pPr>
            <a:r>
              <a:t>→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955280" y="1188720"/>
            <a:ext cx="1737360" cy="1645920"/>
          </a:xfrm>
          <a:prstGeom prst="roundRect">
            <a:avLst/>
          </a:prstGeom>
          <a:solidFill>
            <a:srgbClr val="F1F5F9"/>
          </a:solidFill>
          <a:ln w="25400">
            <a:solidFill>
              <a:srgbClr val="0E74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092440" y="1280160"/>
            <a:ext cx="146303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E7490"/>
                </a:solidFill>
              </a:defRPr>
            </a:pPr>
            <a:r>
              <a:t>/speckit.analyze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092440" y="1645920"/>
            <a:ext cx="146303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4748B"/>
                </a:solidFill>
              </a:defRPr>
            </a:pPr>
            <a:r>
              <a:t>Cross-artifact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092440" y="1874519"/>
            <a:ext cx="146303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4748B"/>
                </a:solidFill>
              </a:defRPr>
            </a:pPr>
            <a:r>
              <a:t>consistency check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738360" y="1828800"/>
            <a:ext cx="182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64748B"/>
                </a:solidFill>
              </a:defRPr>
            </a:pPr>
            <a:r>
              <a:t>→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9875520" y="1188720"/>
            <a:ext cx="1737360" cy="1645920"/>
          </a:xfrm>
          <a:prstGeom prst="roundRect">
            <a:avLst/>
          </a:prstGeom>
          <a:solidFill>
            <a:srgbClr val="F1F5F9"/>
          </a:solidFill>
          <a:ln w="25400">
            <a:solidFill>
              <a:srgbClr val="B4530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0012680" y="1280160"/>
            <a:ext cx="146303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B45309"/>
                </a:solidFill>
              </a:defRPr>
            </a:pPr>
            <a:r>
              <a:t>/speckit.implement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012680" y="1645920"/>
            <a:ext cx="146303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4748B"/>
                </a:solidFill>
              </a:defRPr>
            </a:pPr>
            <a:r>
              <a:t>Phase-by-phase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012680" y="1874519"/>
            <a:ext cx="146303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4748B"/>
                </a:solidFill>
              </a:defRPr>
            </a:pPr>
            <a:r>
              <a:t>execution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40080" y="320040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1E293B"/>
                </a:solidFill>
              </a:defRPr>
            </a:pPr>
            <a:r>
              <a:t>38 features specified and implemented through this lifecycle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40080" y="356616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64748B"/>
                </a:solidFill>
              </a:defRPr>
            </a:pPr>
            <a:r>
              <a:t>Project constitution (v2.1.0) with 7 core principles enforced at every stage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812280"/>
            <a:ext cx="12191695" cy="45720"/>
          </a:xfrm>
          <a:prstGeom prst="rect">
            <a:avLst/>
          </a:prstGeom>
          <a:solidFill>
            <a:srgbClr val="0E74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6576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1E293B"/>
                </a:solidFill>
              </a:defRPr>
            </a:pPr>
            <a:r>
              <a:t>Project Constitution: 7 Core Principles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05840"/>
            <a:ext cx="1828800" cy="36576"/>
          </a:xfrm>
          <a:prstGeom prst="rect">
            <a:avLst/>
          </a:prstGeom>
          <a:solidFill>
            <a:srgbClr val="0E74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18872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E7490"/>
                </a:solidFill>
              </a:defRPr>
            </a:pPr>
            <a:r>
              <a:t>I. Simplicity First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754880" y="118872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64748B"/>
                </a:solidFill>
              </a:defRPr>
            </a:pPr>
            <a:r>
              <a:t>YAGNI at all levels — complexity must be justified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78308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B45309"/>
                </a:solidFill>
              </a:defRPr>
            </a:pPr>
            <a:r>
              <a:t>II. Test-Driven Development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754880" y="178308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64748B"/>
                </a:solidFill>
              </a:defRPr>
            </a:pPr>
            <a:r>
              <a:t>Red-Green-Refactor, non-negotiable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37744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E7490"/>
                </a:solidFill>
              </a:defRPr>
            </a:pPr>
            <a:r>
              <a:t>III. API-First Design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0" y="237744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64748B"/>
                </a:solidFill>
              </a:defRPr>
            </a:pPr>
            <a:r>
              <a:t>Contracts before implementation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297180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B45309"/>
                </a:solidFill>
              </a:defRPr>
            </a:pPr>
            <a:r>
              <a:t>IV. Observability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54880" y="297180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64748B"/>
                </a:solidFill>
              </a:defRPr>
            </a:pPr>
            <a:r>
              <a:t>Structured JSON logs, no silent failures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356616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E7490"/>
                </a:solidFill>
              </a:defRPr>
            </a:pPr>
            <a:r>
              <a:t>V. No Deprecation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54880" y="356616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64748B"/>
                </a:solidFill>
              </a:defRPr>
            </a:pPr>
            <a:r>
              <a:t>System has no consumers — rewrite freely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416052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B45309"/>
                </a:solidFill>
              </a:defRPr>
            </a:pPr>
            <a:r>
              <a:t>VI. Environment Isolation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754880" y="416052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64748B"/>
                </a:solidFill>
              </a:defRPr>
            </a:pPr>
            <a:r>
              <a:t>uv + venvs, bridge venv exception for adapters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475488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E7490"/>
                </a:solidFill>
              </a:defRPr>
            </a:pPr>
            <a:r>
              <a:t>VII. Developer Experience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754880" y="475488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64748B"/>
                </a:solidFill>
              </a:defRPr>
            </a:pPr>
            <a:r>
              <a:t>docker compose up → everything works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557784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4748B"/>
                </a:solidFill>
              </a:defRPr>
            </a:pPr>
            <a:r>
              <a:t>Version 2.1.0  •  Ratified 2026-03-07  •  Enforced on every PR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812280"/>
            <a:ext cx="12191695" cy="45720"/>
          </a:xfrm>
          <a:prstGeom prst="rect">
            <a:avLst/>
          </a:prstGeom>
          <a:solidFill>
            <a:srgbClr val="0E74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6576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1E293B"/>
                </a:solidFill>
              </a:defRPr>
            </a:pPr>
            <a:r>
              <a:t>38 Features: From Brainstorm to Production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05840"/>
            <a:ext cx="1828800" cy="36576"/>
          </a:xfrm>
          <a:prstGeom prst="rect">
            <a:avLst/>
          </a:prstGeom>
          <a:solidFill>
            <a:srgbClr val="0E74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18872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64748B"/>
                </a:solidFill>
              </a:defRPr>
            </a:pPr>
            <a:r>
              <a:t>Iteration 1: Exploration (001–027)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55448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64748B"/>
                </a:solidFill>
              </a:defRPr>
            </a:pPr>
            <a:r>
              <a:t>001–010: Schema integration, backend, explorer, migration, enrichment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82880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64748B"/>
                </a:solidFill>
              </a:defRPr>
            </a:pPr>
            <a:r>
              <a:t>011–020: Metamodel, provenance, fullstack, ingestion overhaul, extraction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10312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64748B"/>
                </a:solidFill>
              </a:defRPr>
            </a:pPr>
            <a:r>
              <a:t>021–027: Source acquisition, repo restructure, ontology, staged enrichment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56032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E7490"/>
                </a:solidFill>
              </a:defRPr>
            </a:pPr>
            <a:r>
              <a:t>Iteration 2: Production (028–038)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292608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1E293B"/>
                </a:solidFill>
              </a:defRPr>
            </a:pPr>
            <a:r>
              <a:t>028–029: Storage abstraction, backend service layer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320040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1E293B"/>
                </a:solidFill>
              </a:defRPr>
            </a:pPr>
            <a:r>
              <a:t>030–032: Frontend integration, CivicDB-inspired UI, authentication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347472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1E293B"/>
                </a:solidFill>
              </a:defRPr>
            </a:pPr>
            <a:r>
              <a:t>033–034: Unit standardization, curation interface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3749039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1E293B"/>
                </a:solidFill>
              </a:defRPr>
            </a:pPr>
            <a:r>
              <a:t>035–037: UX overhaul, knowledge service, data export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402336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B45309"/>
                </a:solidFill>
              </a:defRPr>
            </a:pPr>
            <a:r>
              <a:t>038: System hardening — 47 tasks, 9 user stories, all complete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812280"/>
            <a:ext cx="12191695" cy="45720"/>
          </a:xfrm>
          <a:prstGeom prst="rect">
            <a:avLst/>
          </a:prstGeom>
          <a:solidFill>
            <a:srgbClr val="0E74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6576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1E293B"/>
                </a:solidFill>
              </a:defRPr>
            </a:pPr>
            <a:r>
              <a:t>The Registry: Scale &amp; Coverage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05840"/>
            <a:ext cx="1828800" cy="36576"/>
          </a:xfrm>
          <a:prstGeom prst="rect">
            <a:avLst/>
          </a:prstGeom>
          <a:solidFill>
            <a:srgbClr val="0E74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1887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800" b="1">
                <a:solidFill>
                  <a:srgbClr val="0E7490"/>
                </a:solidFill>
              </a:defRPr>
            </a:pPr>
            <a:r>
              <a:t>7,055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82880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64748B"/>
                </a:solidFill>
              </a:defRPr>
            </a:pPr>
            <a:r>
              <a:t>Elements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926080" y="11887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800" b="1">
                <a:solidFill>
                  <a:srgbClr val="B45309"/>
                </a:solidFill>
              </a:defRPr>
            </a:pPr>
            <a:r>
              <a:t>1,005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26080" y="182880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64748B"/>
                </a:solidFill>
              </a:defRPr>
            </a:pPr>
            <a:r>
              <a:t>Schemas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212080" y="11887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800" b="1">
                <a:solidFill>
                  <a:srgbClr val="15803D"/>
                </a:solidFill>
              </a:defRPr>
            </a:pPr>
            <a:r>
              <a:t>15,881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212080" y="182880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64748B"/>
                </a:solidFill>
              </a:defRPr>
            </a:pPr>
            <a:r>
              <a:t>Values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98079" y="11887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800" b="1">
                <a:solidFill>
                  <a:srgbClr val="C2410C"/>
                </a:solidFill>
              </a:defRPr>
            </a:pPr>
            <a:r>
              <a:t>2,426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98079" y="182880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64748B"/>
                </a:solidFill>
              </a:defRPr>
            </a:pPr>
            <a:r>
              <a:t>Value Sets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784080" y="11887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800" b="1">
                <a:solidFill>
                  <a:srgbClr val="7E22CE"/>
                </a:solidFill>
              </a:defRPr>
            </a:pPr>
            <a:r>
              <a:t>15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784080" y="182880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64748B"/>
                </a:solidFill>
              </a:defRPr>
            </a:pPr>
            <a:r>
              <a:t>Transforms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283464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E293B"/>
                </a:solidFill>
              </a:defRPr>
            </a:pPr>
            <a:r>
              <a:t>7 Sources: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320040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E7490"/>
                </a:solidFill>
              </a:defRPr>
            </a:pPr>
            <a:r>
              <a:t>BIDS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347472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4748B"/>
                </a:solidFill>
              </a:defRPr>
            </a:pPr>
            <a:r>
              <a:t>585 elements • JSON Schema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566160" y="320040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E7490"/>
                </a:solidFill>
              </a:defRPr>
            </a:pPr>
            <a:r>
              <a:t>NWB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566160" y="347472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4748B"/>
                </a:solidFill>
              </a:defRPr>
            </a:pPr>
            <a:r>
              <a:t>179 elements • Python/hdmf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0" y="320040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E7490"/>
                </a:solidFill>
              </a:defRPr>
            </a:pPr>
            <a:r>
              <a:t>DANDI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0" y="347472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4748B"/>
                </a:solidFill>
              </a:defRPr>
            </a:pPr>
            <a:r>
              <a:t>398 elements • Pydantic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235440" y="320040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E7490"/>
                </a:solidFill>
              </a:defRPr>
            </a:pPr>
            <a:r>
              <a:t>openMINDS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235440" y="347472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4748B"/>
                </a:solidFill>
              </a:defRPr>
            </a:pPr>
            <a:r>
              <a:t>473 elements • JSON-LD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1520" y="3749039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E7490"/>
                </a:solidFill>
              </a:defRPr>
            </a:pPr>
            <a:r>
              <a:t>AIND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31520" y="4023359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4748B"/>
                </a:solidFill>
              </a:defRPr>
            </a:pPr>
            <a:r>
              <a:t>556 elements • JSON Schema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566160" y="3749039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E7490"/>
                </a:solidFill>
              </a:defRPr>
            </a:pPr>
            <a:r>
              <a:t>OpenNeuro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566160" y="4023359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4748B"/>
                </a:solidFill>
              </a:defRPr>
            </a:pPr>
            <a:r>
              <a:t>28 elements • TSV/datalad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00800" y="3749039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E7490"/>
                </a:solidFill>
              </a:defRPr>
            </a:pPr>
            <a:r>
              <a:t>ReproSchema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00800" y="4023359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4748B"/>
                </a:solidFill>
              </a:defRPr>
            </a:pPr>
            <a:r>
              <a:t>4,836 elements • JSON-LD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812280"/>
            <a:ext cx="12191695" cy="45720"/>
          </a:xfrm>
          <a:prstGeom prst="rect">
            <a:avLst/>
          </a:prstGeom>
          <a:solidFill>
            <a:srgbClr val="0E74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6576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1E293B"/>
                </a:solidFill>
              </a:defRPr>
            </a:pPr>
            <a:r>
              <a:t>Enrichment Coverage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05840"/>
            <a:ext cx="1828800" cy="36576"/>
          </a:xfrm>
          <a:prstGeom prst="rect">
            <a:avLst/>
          </a:prstGeom>
          <a:solidFill>
            <a:srgbClr val="0E74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18872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1E293B"/>
                </a:solidFill>
              </a:defRPr>
            </a:pPr>
            <a:r>
              <a:t>openMINDS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0" y="118872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5803D"/>
                </a:solidFill>
              </a:defRPr>
            </a:pPr>
            <a:r>
              <a:t>70%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69164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1E293B"/>
                </a:solidFill>
              </a:defRPr>
            </a:pPr>
            <a:r>
              <a:t>AIND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0" y="169164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E7490"/>
                </a:solidFill>
              </a:defRPr>
            </a:pPr>
            <a:r>
              <a:t>34.4%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19456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1E293B"/>
                </a:solidFill>
              </a:defRPr>
            </a:pPr>
            <a:r>
              <a:t>DANDI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00400" y="219456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E7490"/>
                </a:solidFill>
              </a:defRPr>
            </a:pPr>
            <a:r>
              <a:t>25.9%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269748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1E293B"/>
                </a:solidFill>
              </a:defRPr>
            </a:pPr>
            <a:r>
              <a:t>BIDS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00400" y="269748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B45309"/>
                </a:solidFill>
              </a:defRPr>
            </a:pPr>
            <a:r>
              <a:t>10.3%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320040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1E293B"/>
                </a:solidFill>
              </a:defRPr>
            </a:pPr>
            <a:r>
              <a:t>NWB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200400" y="320040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C2410C"/>
                </a:solidFill>
              </a:defRPr>
            </a:pPr>
            <a:r>
              <a:t>1.1%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393192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0E7490"/>
                </a:solidFill>
              </a:defRPr>
            </a:pPr>
            <a:r>
              <a:t>13 Ontologies  •  2.99M total terms  •  268K embedded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4389120"/>
            <a:ext cx="10058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1E293B"/>
                </a:solidFill>
              </a:defRPr>
              <a:buClr>
                <a:srgbClr val="0E7490"/>
              </a:buClr>
              <a:buChar char="•"/>
            </a:pPr>
            <a:r>
              <a:t>Evidence Chain: similarity score + URI verification + reasoning chain</a:t>
            </a:r>
          </a:p>
          <a:p>
            <a:pPr>
              <a:spcAft>
                <a:spcPts val="800"/>
              </a:spcAft>
              <a:defRPr sz="1800">
                <a:solidFill>
                  <a:srgbClr val="1E293B"/>
                </a:solidFill>
              </a:defRPr>
              <a:buClr>
                <a:srgbClr val="0E7490"/>
              </a:buClr>
              <a:buChar char="•"/>
            </a:pPr>
            <a:r>
              <a:t>LLM verification (gpt-5.4-nano: 0.06s/pair, ollama/qwen3.5: 0.5s/pair)</a:t>
            </a:r>
          </a:p>
          <a:p>
            <a:pPr>
              <a:spcAft>
                <a:spcPts val="800"/>
              </a:spcAft>
              <a:defRPr sz="1800">
                <a:solidFill>
                  <a:srgbClr val="1E293B"/>
                </a:solidFill>
              </a:defRPr>
              <a:buClr>
                <a:srgbClr val="0E7490"/>
              </a:buClr>
              <a:buChar char="•"/>
            </a:pPr>
            <a:r>
              <a:t>NCBITaxon filtered to 20 neuroscience species (from 2.7M terms)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812280"/>
            <a:ext cx="12191695" cy="45720"/>
          </a:xfrm>
          <a:prstGeom prst="rect">
            <a:avLst/>
          </a:prstGeom>
          <a:solidFill>
            <a:srgbClr val="0E74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6576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1E293B"/>
                </a:solidFill>
              </a:defRPr>
            </a:pPr>
            <a:r>
              <a:t>Knowledge Service: Expanding the Semantic Universe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05840"/>
            <a:ext cx="1828800" cy="36576"/>
          </a:xfrm>
          <a:prstGeom prst="rect">
            <a:avLst/>
          </a:prstGeom>
          <a:solidFill>
            <a:srgbClr val="0E74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457200" y="1188720"/>
            <a:ext cx="3474720" cy="2743200"/>
          </a:xfrm>
          <a:prstGeom prst="roundRect">
            <a:avLst/>
          </a:prstGeom>
          <a:solidFill>
            <a:srgbClr val="F1F5F9"/>
          </a:solidFill>
          <a:ln w="25400">
            <a:solidFill>
              <a:srgbClr val="0E74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128016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E7490"/>
                </a:solidFill>
              </a:defRPr>
            </a:pPr>
            <a:r>
              <a:t>ONTOLOGIES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64592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4748B"/>
                </a:solidFill>
              </a:defRPr>
            </a:pPr>
            <a:r>
              <a:t>Core: NCIT, PATO, UBERON, HP, OBI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874519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4748B"/>
                </a:solidFill>
              </a:defRPr>
            </a:pPr>
            <a:r>
              <a:t>Neuro: NIDM, CogPO, NIF-std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10312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4748B"/>
                </a:solidFill>
              </a:defRPr>
            </a:pPr>
            <a:r>
              <a:t>Imaging: DICOM, RadLex, NeuroNames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233172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4748B"/>
                </a:solidFill>
              </a:defRPr>
            </a:pPr>
            <a:r>
              <a:t>New: HoMBA (brain anatomy)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256032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4748B"/>
                </a:solidFill>
              </a:defRPr>
            </a:pPr>
          </a:p>
        </p:txBody>
      </p:sp>
      <p:sp>
        <p:nvSpPr>
          <p:cNvPr id="12" name="TextBox 11"/>
          <p:cNvSpPr txBox="1"/>
          <p:nvPr/>
        </p:nvSpPr>
        <p:spPr>
          <a:xfrm>
            <a:off x="594360" y="278892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4748B"/>
                </a:solidFill>
              </a:defRPr>
            </a:pPr>
            <a:r>
              <a:t>pyoxigraph RDF + SPARQL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301752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4748B"/>
                </a:solidFill>
              </a:defRPr>
            </a:pPr>
            <a:r>
              <a:t>Checksum-based dedup per source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206240" y="1188720"/>
            <a:ext cx="3474720" cy="2743200"/>
          </a:xfrm>
          <a:prstGeom prst="roundRect">
            <a:avLst/>
          </a:prstGeom>
          <a:solidFill>
            <a:srgbClr val="F1F5F9"/>
          </a:solidFill>
          <a:ln w="25400">
            <a:solidFill>
              <a:srgbClr val="B4530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343400" y="128016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B45309"/>
                </a:solidFill>
              </a:defRPr>
            </a:pPr>
            <a:r>
              <a:t>DATA REPOSITORIES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343400" y="164592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4748B"/>
                </a:solidFill>
              </a:defRPr>
            </a:pPr>
            <a:r>
              <a:t>OpenNeuro (BIDS, datalad API)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343400" y="1874519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4748B"/>
                </a:solidFill>
              </a:defRPr>
            </a:pPr>
            <a:r>
              <a:t>DANDI (NWB + schema.org)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343400" y="210312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4748B"/>
                </a:solidFill>
              </a:defRPr>
            </a:pPr>
            <a:r>
              <a:t>openMINDS instances (4,390)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343400" y="233172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4748B"/>
                </a:solidFill>
              </a:defRPr>
            </a:pPr>
            <a:r>
              <a:t>NDA data dictionary API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343400" y="256032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4748B"/>
                </a:solidFill>
              </a:defRPr>
            </a:pPr>
            <a:r>
              <a:t>ReproSchema library (JSON-LD)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343400" y="278892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4748B"/>
                </a:solidFill>
              </a:defRPr>
            </a:pPr>
          </a:p>
        </p:txBody>
      </p:sp>
      <p:sp>
        <p:nvSpPr>
          <p:cNvPr id="22" name="TextBox 21"/>
          <p:cNvSpPr txBox="1"/>
          <p:nvPr/>
        </p:nvSpPr>
        <p:spPr>
          <a:xfrm>
            <a:off x="4343400" y="301752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4748B"/>
                </a:solidFill>
              </a:defRPr>
            </a:pPr>
            <a:r>
              <a:t>Adapter pattern: BaseAdapter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955279" y="1188720"/>
            <a:ext cx="3474720" cy="2743200"/>
          </a:xfrm>
          <a:prstGeom prst="roundRect">
            <a:avLst/>
          </a:prstGeom>
          <a:solidFill>
            <a:srgbClr val="F1F5F9"/>
          </a:solidFill>
          <a:ln w="25400">
            <a:solidFill>
              <a:srgbClr val="1580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092440" y="128016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5803D"/>
                </a:solidFill>
              </a:defRPr>
            </a:pPr>
            <a:r>
              <a:t>KNOWLEDGE BASES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092440" y="164592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4748B"/>
                </a:solidFill>
              </a:defRPr>
            </a:pPr>
            <a:r>
              <a:t>Cognitive Atlas (concepts→tasks)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092440" y="1874519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4748B"/>
                </a:solidFill>
              </a:defRPr>
            </a:pPr>
            <a:r>
              <a:t>InterLex (NIF registry)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092440" y="210312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4748B"/>
                </a:solidFill>
              </a:defRPr>
            </a:pPr>
            <a:r>
              <a:t>NITRC (tools + capabilities)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092440" y="233172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4748B"/>
                </a:solidFill>
              </a:defRPr>
            </a:pPr>
            <a:r>
              <a:t>NIH CDE Repository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092440" y="256032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4748B"/>
                </a:solidFill>
              </a:defRPr>
            </a:pPr>
            <a:r>
              <a:t>CDISC, FHIR, schema.org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092440" y="278892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4748B"/>
                </a:solidFill>
              </a:defRPr>
            </a:pPr>
          </a:p>
        </p:txBody>
      </p:sp>
      <p:sp>
        <p:nvSpPr>
          <p:cNvPr id="31" name="TextBox 30"/>
          <p:cNvSpPr txBox="1"/>
          <p:nvPr/>
        </p:nvSpPr>
        <p:spPr>
          <a:xfrm>
            <a:off x="8092440" y="301752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4748B"/>
                </a:solidFill>
              </a:defRPr>
            </a:pPr>
            <a:r>
              <a:t>Discovery service polls daily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812280"/>
            <a:ext cx="12191695" cy="45720"/>
          </a:xfrm>
          <a:prstGeom prst="rect">
            <a:avLst/>
          </a:prstGeom>
          <a:solidFill>
            <a:srgbClr val="0E74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6576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1E293B"/>
                </a:solidFill>
              </a:defRPr>
            </a:pPr>
            <a:r>
              <a:t>Adapter Architecture: 8 Source Adapters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05840"/>
            <a:ext cx="1828800" cy="36576"/>
          </a:xfrm>
          <a:prstGeom prst="rect">
            <a:avLst/>
          </a:prstGeom>
          <a:solidFill>
            <a:srgbClr val="0E74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18872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E7490"/>
                </a:solidFill>
              </a:defRPr>
            </a:pPr>
            <a:r>
              <a:t>BIDS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0" y="118872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1E293B"/>
                </a:solidFill>
              </a:defRPr>
            </a:pPr>
            <a:r>
              <a:t>LinkML-first, raw JSON Schema descriptors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64592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E7490"/>
                </a:solidFill>
              </a:defRPr>
            </a:pPr>
            <a:r>
              <a:t>NWB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0" y="164592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1E293B"/>
                </a:solidFill>
              </a:defRPr>
            </a:pPr>
            <a:r>
              <a:t>Python/hdmf introspection via bridge venv (Python 3.12)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10312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E7490"/>
                </a:solidFill>
              </a:defRPr>
            </a:pPr>
            <a:r>
              <a:t>DANDI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00400" y="210312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1E293B"/>
                </a:solidFill>
              </a:defRPr>
            </a:pPr>
            <a:r>
              <a:t>Pydantic model introspection, inheritance handling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256032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E7490"/>
                </a:solidFill>
              </a:defRPr>
            </a:pPr>
            <a:r>
              <a:t>openMINDS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00400" y="256032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1E293B"/>
                </a:solidFill>
              </a:defRPr>
            </a:pPr>
            <a:r>
              <a:t>JSON-LD → LinkML, 4,390 instance values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301752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E7490"/>
                </a:solidFill>
              </a:defRPr>
            </a:pPr>
            <a:r>
              <a:t>AIND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200400" y="301752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1E293B"/>
                </a:solidFill>
              </a:defRPr>
            </a:pPr>
            <a:r>
              <a:t>JSON Schema with $ref resolution, enum extraction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347472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E7490"/>
                </a:solidFill>
              </a:defRPr>
            </a:pPr>
            <a:r>
              <a:t>OpenNeuro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00400" y="347472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1E293B"/>
                </a:solidFill>
              </a:defRPr>
            </a:pPr>
            <a:r>
              <a:t>datalad Python API, TSV/CSV + JSON sidecar scanning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393192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E7490"/>
                </a:solidFill>
              </a:defRPr>
            </a:pPr>
            <a:r>
              <a:t>ReproSchema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200400" y="393192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1E293B"/>
                </a:solidFill>
              </a:defRPr>
            </a:pPr>
            <a:r>
              <a:t>JSON-LD with relative path ref resolution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" y="438912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E7490"/>
                </a:solidFill>
              </a:defRPr>
            </a:pPr>
            <a:r>
              <a:t>NDA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200400" y="438912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1E293B"/>
                </a:solidFill>
              </a:defRPr>
            </a:pPr>
            <a:r>
              <a:t>REST API, data dictionary extraction with value ranges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" y="512064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64748B"/>
                </a:solidFill>
              </a:defRPr>
            </a:pPr>
            <a:r>
              <a:t>All adapters: BaseAdapter → extract() → list[ClassifiedEntity]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812280"/>
            <a:ext cx="12191695" cy="45720"/>
          </a:xfrm>
          <a:prstGeom prst="rect">
            <a:avLst/>
          </a:prstGeom>
          <a:solidFill>
            <a:srgbClr val="0E74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6576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1E293B"/>
                </a:solidFill>
              </a:defRPr>
            </a:pPr>
            <a:r>
              <a:t>Content-Addressed Identity: How It Works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05840"/>
            <a:ext cx="1828800" cy="36576"/>
          </a:xfrm>
          <a:prstGeom prst="rect">
            <a:avLst/>
          </a:prstGeom>
          <a:solidFill>
            <a:srgbClr val="0E74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457200" y="1188720"/>
            <a:ext cx="5303520" cy="3200400"/>
          </a:xfrm>
          <a:prstGeom prst="roundRect">
            <a:avLst/>
          </a:prstGeom>
          <a:solidFill>
            <a:srgbClr val="F1F5F9"/>
          </a:solidFill>
          <a:ln w="25400">
            <a:solidFill>
              <a:srgbClr val="0E74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128016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E7490"/>
                </a:solidFill>
              </a:defRPr>
            </a:pPr>
            <a:r>
              <a:t>TWO-MODE HASHING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64592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4748B"/>
                </a:solidFill>
              </a:defRPr>
            </a:pPr>
            <a:r>
              <a:t>Mode 1 — Ontology-Anchored: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874519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4748B"/>
                </a:solidFill>
              </a:defRPr>
            </a:pPr>
            <a:r>
              <a:t>  hash(data_type + unit + pattern + constraints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10312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4748B"/>
                </a:solidFill>
              </a:defRPr>
            </a:pPr>
            <a:r>
              <a:t>       + primary_ontology_uri)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233172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4748B"/>
                </a:solidFill>
              </a:defRPr>
            </a:pPr>
            <a:r>
              <a:t>  → Same concept across sources gets same hash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256032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4748B"/>
                </a:solidFill>
              </a:defRPr>
            </a:pPr>
          </a:p>
        </p:txBody>
      </p:sp>
      <p:sp>
        <p:nvSpPr>
          <p:cNvPr id="12" name="TextBox 11"/>
          <p:cNvSpPr txBox="1"/>
          <p:nvPr/>
        </p:nvSpPr>
        <p:spPr>
          <a:xfrm>
            <a:off x="594360" y="278892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4748B"/>
                </a:solidFill>
              </a:defRPr>
            </a:pPr>
            <a:r>
              <a:t>Mode 2 — Structural Fallback: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301752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4748B"/>
                </a:solidFill>
              </a:defRPr>
            </a:pPr>
            <a:r>
              <a:t>  hash(data_type + unit + pattern + constraints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4360" y="324612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4748B"/>
                </a:solidFill>
              </a:defRPr>
            </a:pPr>
            <a:r>
              <a:t>       + class + attribute + description)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4360" y="347472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4748B"/>
                </a:solidFill>
              </a:defRPr>
            </a:pPr>
            <a:r>
              <a:t>  → Unique within context when no ontology match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4360" y="370332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4748B"/>
                </a:solidFill>
              </a:defRPr>
            </a:pPr>
          </a:p>
        </p:txBody>
      </p:sp>
      <p:sp>
        <p:nvSpPr>
          <p:cNvPr id="17" name="TextBox 16"/>
          <p:cNvSpPr txBox="1"/>
          <p:nvPr/>
        </p:nvSpPr>
        <p:spPr>
          <a:xfrm>
            <a:off x="594360" y="393192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4748B"/>
                </a:solidFill>
              </a:defRPr>
            </a:pPr>
            <a:r>
              <a:t>Short key: 12 hex chars from SHA-256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035040" y="1188720"/>
            <a:ext cx="5303520" cy="3200400"/>
          </a:xfrm>
          <a:prstGeom prst="roundRect">
            <a:avLst/>
          </a:prstGeom>
          <a:solidFill>
            <a:srgbClr val="F1F5F9"/>
          </a:solidFill>
          <a:ln w="25400">
            <a:solidFill>
              <a:srgbClr val="B4530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172200" y="128016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B45309"/>
                </a:solidFill>
              </a:defRPr>
            </a:pPr>
            <a:r>
              <a:t>PROVENANCE ACCUMULATION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172200" y="164592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4748B"/>
                </a:solidFill>
              </a:defRPr>
            </a:pPr>
            <a:r>
              <a:t>Element: age (sha256: 240539a4c71f...)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172200" y="1874519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4748B"/>
                </a:solidFill>
              </a:defRPr>
            </a:pPr>
          </a:p>
        </p:txBody>
      </p:sp>
      <p:sp>
        <p:nvSpPr>
          <p:cNvPr id="22" name="TextBox 21"/>
          <p:cNvSpPr txBox="1"/>
          <p:nvPr/>
        </p:nvSpPr>
        <p:spPr>
          <a:xfrm>
            <a:off x="6172200" y="210312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4748B"/>
                </a:solidFill>
              </a:defRPr>
            </a:pPr>
            <a:r>
              <a:t>Provenance[0]: source=bids, class=participants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172200" y="233172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4748B"/>
                </a:solidFill>
              </a:defRPr>
            </a:pPr>
            <a:r>
              <a:t>Provenance[1]: source=nwb, class=Subject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172200" y="256032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4748B"/>
                </a:solidFill>
              </a:defRPr>
            </a:pPr>
            <a:r>
              <a:t>Provenance[2]: source=aind, class=Subject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172200" y="278892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4748B"/>
                </a:solidFill>
              </a:defRPr>
            </a:pPr>
            <a:r>
              <a:t>Provenance[3]: source=openneuro/ds000228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172200" y="301752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4748B"/>
                </a:solidFill>
              </a:defRPr>
            </a:pPr>
          </a:p>
        </p:txBody>
      </p:sp>
      <p:sp>
        <p:nvSpPr>
          <p:cNvPr id="27" name="TextBox 26"/>
          <p:cNvSpPr txBox="1"/>
          <p:nvPr/>
        </p:nvSpPr>
        <p:spPr>
          <a:xfrm>
            <a:off x="6172200" y="324612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4748B"/>
                </a:solidFill>
              </a:defRPr>
            </a:pPr>
            <a:r>
              <a:t>One entity, many origins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172200" y="347472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4748B"/>
                </a:solidFill>
              </a:defRPr>
            </a:pPr>
            <a:r>
              <a:t>Cross-referenced automatically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812280"/>
            <a:ext cx="12191695" cy="45720"/>
          </a:xfrm>
          <a:prstGeom prst="rect">
            <a:avLst/>
          </a:prstGeom>
          <a:solidFill>
            <a:srgbClr val="0E74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6576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1E293B"/>
                </a:solidFill>
              </a:defRPr>
            </a:pPr>
            <a:r>
              <a:t>Transform Generation: Three Strategies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05840"/>
            <a:ext cx="1828800" cy="36576"/>
          </a:xfrm>
          <a:prstGeom prst="rect">
            <a:avLst/>
          </a:prstGeom>
          <a:solidFill>
            <a:srgbClr val="0E74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457200" y="1188720"/>
            <a:ext cx="3474720" cy="2743200"/>
          </a:xfrm>
          <a:prstGeom prst="roundRect">
            <a:avLst/>
          </a:prstGeom>
          <a:solidFill>
            <a:srgbClr val="F1F5F9"/>
          </a:solidFill>
          <a:ln w="25400">
            <a:solidFill>
              <a:srgbClr val="0E74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128016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E7490"/>
                </a:solidFill>
              </a:defRPr>
            </a:pPr>
            <a:r>
              <a:t>1. SHARED ONTOLOGY URI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64592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4748B"/>
                </a:solidFill>
              </a:defRPr>
            </a:pPr>
            <a:r>
              <a:t>Elements with same primary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874519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4748B"/>
                </a:solidFill>
              </a:defRPr>
            </a:pPr>
            <a:r>
              <a:t>annotation (e.g., NCIT:C25150)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10312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4748B"/>
                </a:solidFill>
              </a:defRPr>
            </a:pPr>
            <a:r>
              <a:t>Original method: 15 transforms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233172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4748B"/>
                </a:solidFill>
              </a:defRPr>
            </a:pPr>
          </a:p>
        </p:txBody>
      </p:sp>
      <p:sp>
        <p:nvSpPr>
          <p:cNvPr id="11" name="TextBox 10"/>
          <p:cNvSpPr txBox="1"/>
          <p:nvPr/>
        </p:nvSpPr>
        <p:spPr>
          <a:xfrm>
            <a:off x="594360" y="256032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4748B"/>
                </a:solidFill>
              </a:defRPr>
            </a:pPr>
            <a:r>
              <a:t>Detects: identity, unit_conversion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278892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4748B"/>
                </a:solidFill>
              </a:defRPr>
            </a:pPr>
            <a:r>
              <a:t>type_conversion, value_mapping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301752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4748B"/>
                </a:solidFill>
              </a:defRPr>
            </a:pPr>
            <a:r>
              <a:t>structural, unknown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206240" y="1188720"/>
            <a:ext cx="3474720" cy="2743200"/>
          </a:xfrm>
          <a:prstGeom prst="roundRect">
            <a:avLst/>
          </a:prstGeom>
          <a:solidFill>
            <a:srgbClr val="F1F5F9"/>
          </a:solidFill>
          <a:ln w="25400">
            <a:solidFill>
              <a:srgbClr val="B4530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343400" y="128016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B45309"/>
                </a:solidFill>
              </a:defRPr>
            </a:pPr>
            <a:r>
              <a:t>2. NAME-BASED MATCHING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343400" y="164592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4748B"/>
                </a:solidFill>
              </a:defRPr>
            </a:pPr>
            <a:r>
              <a:t>Group by provenance name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343400" y="1874519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4748B"/>
                </a:solidFill>
              </a:defRPr>
            </a:pPr>
            <a:r>
              <a:t>(case-insensitive)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343400" y="210312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4748B"/>
                </a:solidFill>
              </a:defRPr>
            </a:pPr>
            <a:r>
              <a:t>Cross-source only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343400" y="233172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4748B"/>
                </a:solidFill>
              </a:defRPr>
            </a:pPr>
            <a:r>
              <a:t>(BIDS age ↔ NWB age)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343400" y="256032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4748B"/>
                </a:solidFill>
              </a:defRPr>
            </a:pPr>
          </a:p>
        </p:txBody>
      </p:sp>
      <p:sp>
        <p:nvSpPr>
          <p:cNvPr id="21" name="TextBox 20"/>
          <p:cNvSpPr txBox="1"/>
          <p:nvPr/>
        </p:nvSpPr>
        <p:spPr>
          <a:xfrm>
            <a:off x="4343400" y="278892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4748B"/>
                </a:solidFill>
              </a:defRPr>
            </a:pPr>
            <a:r>
              <a:t>Dramatically increases coverage: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343400" y="301752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4748B"/>
                </a:solidFill>
              </a:defRPr>
            </a:pPr>
            <a:r>
              <a:t>100+ transforms (up from 15)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955279" y="1188720"/>
            <a:ext cx="3474720" cy="2743200"/>
          </a:xfrm>
          <a:prstGeom prst="roundRect">
            <a:avLst/>
          </a:prstGeom>
          <a:solidFill>
            <a:srgbClr val="F1F5F9"/>
          </a:solidFill>
          <a:ln w="25400">
            <a:solidFill>
              <a:srgbClr val="1580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092440" y="128016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5803D"/>
                </a:solidFill>
              </a:defRPr>
            </a:pPr>
            <a:r>
              <a:t>3. EMBEDDING SIMILARITY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092440" y="164592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4748B"/>
                </a:solidFill>
              </a:defRPr>
            </a:pPr>
            <a:r>
              <a:t>Cosine similarity between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092440" y="1874519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4748B"/>
                </a:solidFill>
              </a:defRPr>
            </a:pPr>
            <a:r>
              <a:t>element description embeddings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092440" y="210312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4748B"/>
                </a:solidFill>
              </a:defRPr>
            </a:pPr>
            <a:r>
              <a:t>Threshold: 0.8 (cross-source)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092440" y="233172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4748B"/>
                </a:solidFill>
              </a:defRPr>
            </a:pPr>
          </a:p>
        </p:txBody>
      </p:sp>
      <p:sp>
        <p:nvSpPr>
          <p:cNvPr id="29" name="TextBox 28"/>
          <p:cNvSpPr txBox="1"/>
          <p:nvPr/>
        </p:nvSpPr>
        <p:spPr>
          <a:xfrm>
            <a:off x="8092440" y="256032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4748B"/>
                </a:solidFill>
              </a:defRPr>
            </a:pPr>
            <a:r>
              <a:t>Catches semantic matches missed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092440" y="278892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4748B"/>
                </a:solidFill>
              </a:defRPr>
            </a:pPr>
            <a:r>
              <a:t>by name or ontology matching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092440" y="301752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4748B"/>
                </a:solidFill>
              </a:defRPr>
            </a:pPr>
            <a:r>
              <a:t>Capped at 500 pairs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0080" y="411480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64748B"/>
                </a:solidFill>
              </a:defRPr>
            </a:pPr>
            <a:r>
              <a:t>Many-to-one: source_elements[] for composite transforms (age + age_unit → age_in_years)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812280"/>
            <a:ext cx="12191695" cy="45720"/>
          </a:xfrm>
          <a:prstGeom prst="rect">
            <a:avLst/>
          </a:prstGeom>
          <a:solidFill>
            <a:srgbClr val="0E74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6576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1E293B"/>
                </a:solidFill>
              </a:defRPr>
            </a:pPr>
            <a:r>
              <a:t>Evidence-Based Curation Workflow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05840"/>
            <a:ext cx="1828800" cy="36576"/>
          </a:xfrm>
          <a:prstGeom prst="rect">
            <a:avLst/>
          </a:prstGeom>
          <a:solidFill>
            <a:srgbClr val="0E74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457200" y="1188720"/>
            <a:ext cx="3474720" cy="3200400"/>
          </a:xfrm>
          <a:prstGeom prst="roundRect">
            <a:avLst/>
          </a:prstGeom>
          <a:solidFill>
            <a:srgbClr val="F1F5F9"/>
          </a:solidFill>
          <a:ln w="25400">
            <a:solidFill>
              <a:srgbClr val="0E74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128016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E7490"/>
                </a:solidFill>
              </a:defRPr>
            </a:pPr>
            <a:r>
              <a:t>EVIDENCE CHAIN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64592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4748B"/>
                </a:solidFill>
              </a:defRPr>
            </a:pPr>
            <a:r>
              <a:t>similarity_score: 0.85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874519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4748B"/>
                </a:solidFill>
              </a:defRPr>
            </a:pPr>
            <a:r>
              <a:t>similarity_method: cosine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10312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4748B"/>
                </a:solidFill>
              </a:defRPr>
            </a:pPr>
            <a:r>
              <a:t>source_text: 'Age in years'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233172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4748B"/>
                </a:solidFill>
              </a:defRPr>
            </a:pPr>
            <a:r>
              <a:t>target: NCIT:C25150 'Age'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256032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4748B"/>
                </a:solidFill>
              </a:defRPr>
            </a:pPr>
            <a:r>
              <a:t>uri_verified: true ✓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278892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4748B"/>
                </a:solidFill>
              </a:defRPr>
            </a:pPr>
            <a:r>
              <a:t>reasoning: 'Cosine similarity...'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301752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4748B"/>
                </a:solidFill>
              </a:defRPr>
            </a:pPr>
          </a:p>
        </p:txBody>
      </p:sp>
      <p:sp>
        <p:nvSpPr>
          <p:cNvPr id="14" name="TextBox 13"/>
          <p:cNvSpPr txBox="1"/>
          <p:nvPr/>
        </p:nvSpPr>
        <p:spPr>
          <a:xfrm>
            <a:off x="594360" y="324612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4748B"/>
                </a:solidFill>
              </a:defRPr>
            </a:pPr>
            <a:r>
              <a:t>No hallucinated confidence.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4360" y="347472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4748B"/>
                </a:solidFill>
              </a:defRPr>
            </a:pPr>
            <a:r>
              <a:t>Every claim backed by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4360" y="370332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4748B"/>
                </a:solidFill>
              </a:defRPr>
            </a:pPr>
            <a:r>
              <a:t>verifiable evidence.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206240" y="1188720"/>
            <a:ext cx="3474720" cy="3200400"/>
          </a:xfrm>
          <a:prstGeom prst="roundRect">
            <a:avLst/>
          </a:prstGeom>
          <a:solidFill>
            <a:srgbClr val="F1F5F9"/>
          </a:solidFill>
          <a:ln w="25400">
            <a:solidFill>
              <a:srgbClr val="B4530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343400" y="128016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B45309"/>
                </a:solidFill>
              </a:defRPr>
            </a:pPr>
            <a:r>
              <a:t>CURATION ROLES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343400" y="164592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4748B"/>
                </a:solidFill>
              </a:defRPr>
            </a:pPr>
            <a:r>
              <a:t>Contributor (default):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343400" y="1874519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4748B"/>
                </a:solidFill>
              </a:defRPr>
            </a:pPr>
            <a:r>
              <a:t>  Suggest annotations, flag issues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343400" y="210312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4748B"/>
                </a:solidFill>
              </a:defRPr>
            </a:pPr>
          </a:p>
        </p:txBody>
      </p:sp>
      <p:sp>
        <p:nvSpPr>
          <p:cNvPr id="22" name="TextBox 21"/>
          <p:cNvSpPr txBox="1"/>
          <p:nvPr/>
        </p:nvSpPr>
        <p:spPr>
          <a:xfrm>
            <a:off x="4343400" y="233172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4748B"/>
                </a:solidFill>
              </a:defRPr>
            </a:pPr>
            <a:r>
              <a:t>Curator (reviews):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343400" y="256032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4748B"/>
                </a:solidFill>
              </a:defRPr>
            </a:pPr>
            <a:r>
              <a:t>  Approve/reject proposals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343400" y="278892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4748B"/>
                </a:solidFill>
              </a:defRPr>
            </a:pPr>
            <a:r>
              <a:t>  Resolve curation flags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343400" y="301752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4748B"/>
                </a:solidFill>
              </a:defRPr>
            </a:pPr>
            <a:r>
              <a:t>  LLM-assisted chat curation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343400" y="324612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4748B"/>
                </a:solidFill>
              </a:defRPr>
            </a:pPr>
          </a:p>
        </p:txBody>
      </p:sp>
      <p:sp>
        <p:nvSpPr>
          <p:cNvPr id="27" name="TextBox 26"/>
          <p:cNvSpPr txBox="1"/>
          <p:nvPr/>
        </p:nvSpPr>
        <p:spPr>
          <a:xfrm>
            <a:off x="4343400" y="347472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4748B"/>
                </a:solidFill>
              </a:defRPr>
            </a:pPr>
            <a:r>
              <a:t>Admin (manages):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343400" y="370332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4748B"/>
                </a:solidFill>
              </a:defRPr>
            </a:pPr>
            <a:r>
              <a:t>  Import, manage ontologies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955279" y="1188720"/>
            <a:ext cx="3474720" cy="3200400"/>
          </a:xfrm>
          <a:prstGeom prst="roundRect">
            <a:avLst/>
          </a:prstGeom>
          <a:solidFill>
            <a:srgbClr val="F1F5F9"/>
          </a:solidFill>
          <a:ln w="25400">
            <a:solidFill>
              <a:srgbClr val="1580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092440" y="128016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5803D"/>
                </a:solidFill>
              </a:defRPr>
            </a:pPr>
            <a:r>
              <a:t>AUDIT TRAIL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092440" y="164592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4748B"/>
                </a:solidFill>
              </a:defRPr>
            </a:pPr>
            <a:r>
              <a:t>PROV-O style for every mutation: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092440" y="1874519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4748B"/>
                </a:solidFill>
              </a:defRPr>
            </a:pPr>
            <a:r>
              <a:t>  agent (who)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092440" y="210312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4748B"/>
                </a:solidFill>
              </a:defRPr>
            </a:pPr>
            <a:r>
              <a:t>  activity (what)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092440" y="233172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4748B"/>
                </a:solidFill>
              </a:defRPr>
            </a:pPr>
            <a:r>
              <a:t>  entity (on what)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092440" y="256032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4748B"/>
                </a:solidFill>
              </a:defRPr>
            </a:pPr>
            <a:r>
              <a:t>  generated_entity (new version)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092440" y="278892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4748B"/>
                </a:solidFill>
              </a:defRPr>
            </a:pPr>
            <a:r>
              <a:t>  timestamp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092440" y="301752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4748B"/>
                </a:solidFill>
              </a:defRPr>
            </a:pPr>
          </a:p>
        </p:txBody>
      </p:sp>
      <p:sp>
        <p:nvSpPr>
          <p:cNvPr id="38" name="TextBox 37"/>
          <p:cNvSpPr txBox="1"/>
          <p:nvPr/>
        </p:nvSpPr>
        <p:spPr>
          <a:xfrm>
            <a:off x="8092440" y="324612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4748B"/>
                </a:solidFill>
              </a:defRPr>
            </a:pPr>
            <a:r>
              <a:t>Queryable by entity, user, time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092440" y="347472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4748B"/>
                </a:solidFill>
              </a:defRPr>
            </a:pPr>
            <a:r>
              <a:t>14,984 curation flags tracked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812280"/>
            <a:ext cx="12191695" cy="45720"/>
          </a:xfrm>
          <a:prstGeom prst="rect">
            <a:avLst/>
          </a:prstGeom>
          <a:solidFill>
            <a:srgbClr val="0E74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6576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1E293B"/>
                </a:solidFill>
              </a:defRPr>
            </a:pPr>
            <a:r>
              <a:t>LLM-Powered Curation Assistant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05840"/>
            <a:ext cx="1828800" cy="36576"/>
          </a:xfrm>
          <a:prstGeom prst="rect">
            <a:avLst/>
          </a:prstGeom>
          <a:solidFill>
            <a:srgbClr val="0E74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188720"/>
            <a:ext cx="10058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>
                <a:solidFill>
                  <a:srgbClr val="1E293B"/>
                </a:solidFill>
              </a:defRPr>
              <a:buClr>
                <a:srgbClr val="0E7490"/>
              </a:buClr>
              <a:buChar char="•"/>
            </a:pPr>
            <a:r>
              <a:t>Real-time chat connected to configurable LLM (litellm: OpenAI, ollama, Anthropic)</a:t>
            </a:r>
          </a:p>
          <a:p>
            <a:pPr>
              <a:spcAft>
                <a:spcPts val="800"/>
              </a:spcAft>
              <a:defRPr sz="2000">
                <a:solidFill>
                  <a:srgbClr val="1E293B"/>
                </a:solidFill>
              </a:defRPr>
              <a:buClr>
                <a:srgbClr val="0E7490"/>
              </a:buClr>
              <a:buChar char="•"/>
            </a:pPr>
            <a:r>
              <a:t>Entity context injected into every conversation (fields, provenance, annotations)</a:t>
            </a:r>
          </a:p>
          <a:p>
            <a:pPr>
              <a:spcAft>
                <a:spcPts val="800"/>
              </a:spcAft>
              <a:defRPr sz="2000">
                <a:solidFill>
                  <a:srgbClr val="1E293B"/>
                </a:solidFill>
              </a:defRPr>
              <a:buClr>
                <a:srgbClr val="0E7490"/>
              </a:buClr>
              <a:buChar char="•"/>
            </a:pPr>
            <a:r>
              <a:t>Auto-suggest improvements on entity load (missing annotations, units, descriptions)</a:t>
            </a:r>
          </a:p>
          <a:p>
            <a:pPr>
              <a:spcAft>
                <a:spcPts val="800"/>
              </a:spcAft>
              <a:defRPr sz="2000">
                <a:solidFill>
                  <a:srgbClr val="1E293B"/>
                </a:solidFill>
              </a:defRPr>
              <a:buClr>
                <a:srgbClr val="0E7490"/>
              </a:buClr>
              <a:buChar char="•"/>
            </a:pPr>
            <a:r>
              <a:t>Tool execution: lookup_ontology_term, propose_entity_change, fetch_entity</a:t>
            </a:r>
          </a:p>
          <a:p>
            <a:pPr>
              <a:spcAft>
                <a:spcPts val="800"/>
              </a:spcAft>
              <a:defRPr sz="2000">
                <a:solidFill>
                  <a:srgbClr val="1E293B"/>
                </a:solidFill>
              </a:defRPr>
              <a:buClr>
                <a:srgbClr val="0E7490"/>
              </a:buClr>
              <a:buChar char="•"/>
            </a:pPr>
            <a:r>
              <a:t>Proposals appear as reviewable diffs with evidence chains</a:t>
            </a:r>
          </a:p>
          <a:p>
            <a:pPr>
              <a:spcAft>
                <a:spcPts val="800"/>
              </a:spcAft>
              <a:defRPr sz="2000">
                <a:solidFill>
                  <a:srgbClr val="1E293B"/>
                </a:solidFill>
              </a:defRPr>
              <a:buClr>
                <a:srgbClr val="0E7490"/>
              </a:buClr>
              <a:buChar char="•"/>
            </a:pPr>
            <a:r>
              <a:t>Borderline candidates (0.5–0.7) batch-verified via LLM with disk cache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812280"/>
            <a:ext cx="12191695" cy="45720"/>
          </a:xfrm>
          <a:prstGeom prst="rect">
            <a:avLst/>
          </a:prstGeom>
          <a:solidFill>
            <a:srgbClr val="0E74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6576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1E293B"/>
                </a:solidFill>
              </a:defRPr>
            </a:pPr>
            <a:r>
              <a:t>Search: Lexical, Semantic, and Combined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05840"/>
            <a:ext cx="1828800" cy="36576"/>
          </a:xfrm>
          <a:prstGeom prst="rect">
            <a:avLst/>
          </a:prstGeom>
          <a:solidFill>
            <a:srgbClr val="0E74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457200" y="1188720"/>
            <a:ext cx="3474720" cy="2286000"/>
          </a:xfrm>
          <a:prstGeom prst="roundRect">
            <a:avLst/>
          </a:prstGeom>
          <a:solidFill>
            <a:srgbClr val="F1F5F9"/>
          </a:solidFill>
          <a:ln w="25400">
            <a:solidFill>
              <a:srgbClr val="0E74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128016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E7490"/>
                </a:solidFill>
              </a:defRPr>
            </a:pPr>
            <a:r>
              <a:t>LEXICAL SEARCH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64592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4748B"/>
                </a:solidFill>
              </a:defRPr>
            </a:pPr>
            <a:r>
              <a:t>PostgreSQL tsvector full-text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874519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4748B"/>
                </a:solidFill>
              </a:defRPr>
            </a:pPr>
            <a:r>
              <a:t>ILIKE fallback for simple queries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10312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4748B"/>
                </a:solidFill>
              </a:defRPr>
            </a:pPr>
            <a:r>
              <a:t>Cross-entity: elements, schemas,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233172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4748B"/>
                </a:solidFill>
              </a:defRPr>
            </a:pPr>
            <a:r>
              <a:t>values, valuesets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206240" y="1188720"/>
            <a:ext cx="3474720" cy="2286000"/>
          </a:xfrm>
          <a:prstGeom prst="roundRect">
            <a:avLst/>
          </a:prstGeom>
          <a:solidFill>
            <a:srgbClr val="F1F5F9"/>
          </a:solidFill>
          <a:ln w="25400">
            <a:solidFill>
              <a:srgbClr val="B4530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343400" y="128016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B45309"/>
                </a:solidFill>
              </a:defRPr>
            </a:pPr>
            <a:r>
              <a:t>SEMANTIC SEARCH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343400" y="164592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4748B"/>
                </a:solidFill>
              </a:defRPr>
            </a:pPr>
            <a:r>
              <a:t>pgvector nearest-neighbor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43400" y="1874519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4748B"/>
                </a:solidFill>
              </a:defRPr>
            </a:pPr>
            <a:r>
              <a:t>Query → embedding → cosine dist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343400" y="210312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4748B"/>
                </a:solidFill>
              </a:defRPr>
            </a:pPr>
            <a:r>
              <a:t>"brain area" → brain_region,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343400" y="233172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4748B"/>
                </a:solidFill>
              </a:defRPr>
            </a:pPr>
            <a:r>
              <a:t>cortical_area, anatomical_region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955279" y="1188720"/>
            <a:ext cx="3474720" cy="2286000"/>
          </a:xfrm>
          <a:prstGeom prst="roundRect">
            <a:avLst/>
          </a:prstGeom>
          <a:solidFill>
            <a:srgbClr val="F1F5F9"/>
          </a:solidFill>
          <a:ln w="25400">
            <a:solidFill>
              <a:srgbClr val="1580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092440" y="128016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5803D"/>
                </a:solidFill>
              </a:defRPr>
            </a:pPr>
            <a:r>
              <a:t>COMBINED MODE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092440" y="164592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4748B"/>
                </a:solidFill>
              </a:defRPr>
            </a:pPr>
            <a:r>
              <a:t>Default: lexical + semantic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092440" y="1874519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4748B"/>
                </a:solidFill>
              </a:defRPr>
            </a:pPr>
            <a:r>
              <a:t>Lexical matches first (exact)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092440" y="210312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4748B"/>
                </a:solidFill>
              </a:defRPr>
            </a:pPr>
            <a:r>
              <a:t>Semantic matches after (related)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092440" y="233172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4748B"/>
                </a:solidFill>
              </a:defRPr>
            </a:pPr>
            <a:r>
              <a:t>Mode toggle in search page UI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812280"/>
            <a:ext cx="12191695" cy="45720"/>
          </a:xfrm>
          <a:prstGeom prst="rect">
            <a:avLst/>
          </a:prstGeom>
          <a:solidFill>
            <a:srgbClr val="0E74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6576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1E293B"/>
                </a:solidFill>
              </a:defRPr>
            </a:pPr>
            <a:r>
              <a:t>UI: Entity Navigator — ER Diagram in a Browser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05840"/>
            <a:ext cx="1828800" cy="36576"/>
          </a:xfrm>
          <a:prstGeom prst="rect">
            <a:avLst/>
          </a:prstGeom>
          <a:solidFill>
            <a:srgbClr val="0E74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188720"/>
            <a:ext cx="10058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>
                <a:solidFill>
                  <a:srgbClr val="1E293B"/>
                </a:solidFill>
              </a:defRPr>
              <a:buClr>
                <a:srgbClr val="0E7490"/>
              </a:buClr>
              <a:buChar char="•"/>
            </a:pPr>
            <a:r>
              <a:t>Every entity links to related entities — schemas ↔ elements ↔ values ↔ transforms</a:t>
            </a:r>
          </a:p>
          <a:p>
            <a:pPr>
              <a:spcAft>
                <a:spcPts val="800"/>
              </a:spcAft>
              <a:defRPr sz="2000">
                <a:solidFill>
                  <a:srgbClr val="1E293B"/>
                </a:solidFill>
              </a:defRPr>
              <a:buClr>
                <a:srgbClr val="0E7490"/>
              </a:buClr>
              <a:buChar char="•"/>
            </a:pPr>
            <a:r>
              <a:t>Server-side sorting on all columns (not client-side re-sort of loaded page)</a:t>
            </a:r>
          </a:p>
          <a:p>
            <a:pPr>
              <a:spcAft>
                <a:spcPts val="800"/>
              </a:spcAft>
              <a:defRPr sz="2000">
                <a:solidFill>
                  <a:srgbClr val="1E293B"/>
                </a:solidFill>
              </a:defRPr>
              <a:buClr>
                <a:srgbClr val="0E7490"/>
              </a:buClr>
              <a:buChar char="•"/>
            </a:pPr>
            <a:r>
              <a:t>Infinite scroll with IntersectionObserver sentinel (200px before end)</a:t>
            </a:r>
          </a:p>
          <a:p>
            <a:pPr>
              <a:spcAft>
                <a:spcPts val="800"/>
              </a:spcAft>
              <a:defRPr sz="2000">
                <a:solidFill>
                  <a:srgbClr val="1E293B"/>
                </a:solidFill>
              </a:defRPr>
              <a:buClr>
                <a:srgbClr val="0E7490"/>
              </a:buClr>
              <a:buChar char="•"/>
            </a:pPr>
            <a:r>
              <a:t>Source filtering on every browse page (BIDS, NWB, DANDI, openMINDS, AIND, ...)</a:t>
            </a:r>
          </a:p>
          <a:p>
            <a:pPr>
              <a:spcAft>
                <a:spcPts val="800"/>
              </a:spcAft>
              <a:defRPr sz="2000">
                <a:solidFill>
                  <a:srgbClr val="1E293B"/>
                </a:solidFill>
              </a:defRPr>
              <a:buClr>
                <a:srgbClr val="0E7490"/>
              </a:buClr>
              <a:buChar char="•"/>
            </a:pPr>
            <a:r>
              <a:t>Cross-entity search with results grouped by type</a:t>
            </a:r>
          </a:p>
          <a:p>
            <a:pPr>
              <a:spcAft>
                <a:spcPts val="800"/>
              </a:spcAft>
              <a:defRPr sz="2000">
                <a:solidFill>
                  <a:srgbClr val="1E293B"/>
                </a:solidFill>
              </a:defRPr>
              <a:buClr>
                <a:srgbClr val="0E7490"/>
              </a:buClr>
              <a:buChar char="•"/>
            </a:pPr>
            <a:r>
              <a:t>Annotation chips with expandable evidence chains</a:t>
            </a:r>
          </a:p>
          <a:p>
            <a:pPr>
              <a:spcAft>
                <a:spcPts val="800"/>
              </a:spcAft>
              <a:defRPr sz="2000">
                <a:solidFill>
                  <a:srgbClr val="1E293B"/>
                </a:solidFill>
              </a:defRPr>
              <a:buClr>
                <a:srgbClr val="0E7490"/>
              </a:buClr>
              <a:buChar char="•"/>
            </a:pPr>
            <a:r>
              <a:t>Provenance badge strips showing all source attestations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812280"/>
            <a:ext cx="12191695" cy="45720"/>
          </a:xfrm>
          <a:prstGeom prst="rect">
            <a:avLst/>
          </a:prstGeom>
          <a:solidFill>
            <a:srgbClr val="0E74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6576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1E293B"/>
                </a:solidFill>
              </a:defRPr>
            </a:pPr>
            <a:r>
              <a:t>UI: Entity Detail — Full Semantic Context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05840"/>
            <a:ext cx="1828800" cy="36576"/>
          </a:xfrm>
          <a:prstGeom prst="rect">
            <a:avLst/>
          </a:prstGeom>
          <a:solidFill>
            <a:srgbClr val="0E74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188720"/>
            <a:ext cx="10058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>
                <a:solidFill>
                  <a:srgbClr val="1E293B"/>
                </a:solidFill>
              </a:defRPr>
              <a:buClr>
                <a:srgbClr val="0E7490"/>
              </a:buClr>
              <a:buChar char="•"/>
            </a:pPr>
            <a:r>
              <a:t>Identity: sha256, data type, unit, unit URI, pattern, min/max, value domain</a:t>
            </a:r>
          </a:p>
          <a:p>
            <a:pPr>
              <a:spcAft>
                <a:spcPts val="800"/>
              </a:spcAft>
              <a:defRPr sz="2000">
                <a:solidFill>
                  <a:srgbClr val="1E293B"/>
                </a:solidFill>
              </a:defRPr>
              <a:buClr>
                <a:srgbClr val="0E7490"/>
              </a:buClr>
              <a:buChar char="•"/>
            </a:pPr>
            <a:r>
              <a:t>Semantic fields: description, question text, response options</a:t>
            </a:r>
          </a:p>
          <a:p>
            <a:pPr>
              <a:spcAft>
                <a:spcPts val="800"/>
              </a:spcAft>
              <a:defRPr sz="2000">
                <a:solidFill>
                  <a:srgbClr val="1E293B"/>
                </a:solidFill>
              </a:defRPr>
              <a:buClr>
                <a:srgbClr val="0E7490"/>
              </a:buClr>
              <a:buChar char="•"/>
            </a:pPr>
            <a:r>
              <a:t>Ontology annotations with SKOS relation, score, expandable evidence chain</a:t>
            </a:r>
          </a:p>
          <a:p>
            <a:pPr>
              <a:spcAft>
                <a:spcPts val="800"/>
              </a:spcAft>
              <a:defRPr sz="2000">
                <a:solidFill>
                  <a:srgbClr val="1E293B"/>
                </a:solidFill>
              </a:defRPr>
              <a:buClr>
                <a:srgbClr val="0E7490"/>
              </a:buClr>
              <a:buChar char="•"/>
            </a:pPr>
            <a:r>
              <a:t>Provenance entries with W3C PROV-O metadata (source, class, activity, timestamp)</a:t>
            </a:r>
          </a:p>
          <a:p>
            <a:pPr>
              <a:spcAft>
                <a:spcPts val="800"/>
              </a:spcAft>
              <a:defRPr sz="2000">
                <a:solidFill>
                  <a:srgbClr val="1E293B"/>
                </a:solidFill>
              </a:defRPr>
              <a:buClr>
                <a:srgbClr val="0E7490"/>
              </a:buClr>
              <a:buChar char="•"/>
            </a:pPr>
            <a:r>
              <a:t>Cross-references: schemas containing this element, transforms involving it</a:t>
            </a:r>
          </a:p>
          <a:p>
            <a:pPr>
              <a:spcAft>
                <a:spcPts val="800"/>
              </a:spcAft>
              <a:defRPr sz="2000">
                <a:solidFill>
                  <a:srgbClr val="1E293B"/>
                </a:solidFill>
              </a:defRPr>
              <a:buClr>
                <a:srgbClr val="0E7490"/>
              </a:buClr>
              <a:buChar char="•"/>
            </a:pPr>
            <a:r>
              <a:t>Curation flags with context, LLM verification, resolve buttons</a:t>
            </a:r>
          </a:p>
          <a:p>
            <a:pPr>
              <a:spcAft>
                <a:spcPts val="800"/>
              </a:spcAft>
              <a:defRPr sz="2000">
                <a:solidFill>
                  <a:srgbClr val="1E293B"/>
                </a:solidFill>
              </a:defRPr>
              <a:buClr>
                <a:srgbClr val="0E7490"/>
              </a:buClr>
              <a:buChar char="•"/>
            </a:pPr>
            <a:r>
              <a:t>Versioning: superseded_by link chain, curation_update transforms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812280"/>
            <a:ext cx="12191695" cy="45720"/>
          </a:xfrm>
          <a:prstGeom prst="rect">
            <a:avLst/>
          </a:prstGeom>
          <a:solidFill>
            <a:srgbClr val="0E74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6576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1E293B"/>
                </a:solidFill>
              </a:defRPr>
            </a:pPr>
            <a:r>
              <a:t>Feature 038: System Hardening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05840"/>
            <a:ext cx="1828800" cy="36576"/>
          </a:xfrm>
          <a:prstGeom prst="rect">
            <a:avLst/>
          </a:prstGeom>
          <a:solidFill>
            <a:srgbClr val="0E74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18872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
                  <a:srgbClr val="B45309"/>
                </a:solidFill>
              </a:defRPr>
            </a:pPr>
            <a:r>
              <a:t>47 tasks  •  9 user stories  •  12 phases  •  47/47 complete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64592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B45309"/>
                </a:solidFill>
              </a:defRPr>
            </a:pPr>
            <a:r>
              <a:t>US1 P1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286000" y="164592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1E293B"/>
                </a:solidFill>
              </a:defRPr>
            </a:pPr>
            <a:r>
              <a:t>LLM Curation Chat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0" y="1645920"/>
            <a:ext cx="5943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64748B"/>
                </a:solidFill>
              </a:defRPr>
            </a:pPr>
            <a:r>
              <a:t>Auto-suggest, evidence chains, tool execution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0574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B45309"/>
                </a:solidFill>
              </a:defRPr>
            </a:pPr>
            <a:r>
              <a:t>US2 P1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286000" y="205740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1E293B"/>
                </a:solidFill>
              </a:defRPr>
            </a:pPr>
            <a:r>
              <a:t>Name-Based Transforms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669280" y="2057400"/>
            <a:ext cx="5943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64748B"/>
                </a:solidFill>
              </a:defRPr>
            </a:pPr>
            <a:r>
              <a:t>100+ transforms (up from 15), many-to-one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246888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B45309"/>
                </a:solidFill>
              </a:defRPr>
            </a:pPr>
            <a:r>
              <a:t>US3 P1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286000" y="246888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1E293B"/>
                </a:solidFill>
              </a:defRPr>
            </a:pPr>
            <a:r>
              <a:t>Additional Sources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669280" y="2468880"/>
            <a:ext cx="5943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64748B"/>
                </a:solidFill>
              </a:defRPr>
            </a:pPr>
            <a:r>
              <a:t>OpenNeuro, ReproSchema, NDA adapters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288036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E7490"/>
                </a:solidFill>
              </a:defRPr>
            </a:pPr>
            <a:r>
              <a:t>US4 P2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286000" y="288036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1E293B"/>
                </a:solidFill>
              </a:defRPr>
            </a:pPr>
            <a:r>
              <a:t>Search Modes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669280" y="2880360"/>
            <a:ext cx="5943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64748B"/>
                </a:solidFill>
              </a:defRPr>
            </a:pPr>
            <a:r>
              <a:t>Lexical/semantic/both with pgvector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" y="329184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E7490"/>
                </a:solidFill>
              </a:defRPr>
            </a:pPr>
            <a:r>
              <a:t>US5 P2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286000" y="329184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1E293B"/>
                </a:solidFill>
              </a:defRPr>
            </a:pPr>
            <a:r>
              <a:t>Ontology Admin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669280" y="3291840"/>
            <a:ext cx="5943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64748B"/>
                </a:solidFill>
              </a:defRPr>
            </a:pPr>
            <a:r>
              <a:t>pyoxigraph store info, NCBITaxon filter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1520" y="370332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E7490"/>
                </a:solidFill>
              </a:defRPr>
            </a:pPr>
            <a:r>
              <a:t>US6 P2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286000" y="370332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1E293B"/>
                </a:solidFill>
              </a:defRPr>
            </a:pPr>
            <a:r>
              <a:t>Server-Side Sorting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669280" y="3703320"/>
            <a:ext cx="5943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64748B"/>
                </a:solidFill>
              </a:defRPr>
            </a:pPr>
            <a:r>
              <a:t>All browse pages, infinite scroll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1520" y="4114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64748B"/>
                </a:solidFill>
              </a:defRPr>
            </a:pPr>
            <a:r>
              <a:t>US7 P3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286000" y="411480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1E293B"/>
                </a:solidFill>
              </a:defRPr>
            </a:pPr>
            <a:r>
              <a:t>Audit + Downloads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669280" y="4114800"/>
            <a:ext cx="5943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64748B"/>
                </a:solidFill>
              </a:defRPr>
            </a:pPr>
            <a:r>
              <a:t>PROV-O audit, nightly exports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31520" y="452628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64748B"/>
                </a:solidFill>
              </a:defRPr>
            </a:pPr>
            <a:r>
              <a:t>US8 P3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286000" y="452628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1E293B"/>
                </a:solidFill>
              </a:defRPr>
            </a:pPr>
            <a:r>
              <a:t>CI + Pipeline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669280" y="4526280"/>
            <a:ext cx="5943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64748B"/>
                </a:solidFill>
              </a:defRPr>
            </a:pPr>
            <a:r>
              <a:t>Action v6, index auto-rebuild, LLM enrichment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31520" y="493776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B45309"/>
                </a:solidFill>
              </a:defRPr>
            </a:pPr>
            <a:r>
              <a:t>US9 P1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286000" y="493776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1E293B"/>
                </a:solidFill>
              </a:defRPr>
            </a:pPr>
            <a:r>
              <a:t>Versioned Dependencies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669280" y="4937760"/>
            <a:ext cx="5943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64748B"/>
                </a:solidFill>
              </a:defRPr>
            </a:pPr>
            <a:r>
              <a:t>Checksum detection, auto re-enrich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812280"/>
            <a:ext cx="12191695" cy="45720"/>
          </a:xfrm>
          <a:prstGeom prst="rect">
            <a:avLst/>
          </a:prstGeom>
          <a:solidFill>
            <a:srgbClr val="0E74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6576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1E293B"/>
                </a:solidFill>
              </a:defRPr>
            </a:pPr>
            <a:r>
              <a:t>Evidence Chain: No Hallucinated Confidence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05840"/>
            <a:ext cx="1828800" cy="36576"/>
          </a:xfrm>
          <a:prstGeom prst="rect">
            <a:avLst/>
          </a:prstGeom>
          <a:solidFill>
            <a:srgbClr val="0E74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457200" y="1188720"/>
            <a:ext cx="5303520" cy="3200400"/>
          </a:xfrm>
          <a:prstGeom prst="roundRect">
            <a:avLst/>
          </a:prstGeom>
          <a:solidFill>
            <a:srgbClr val="F1F5F9"/>
          </a:solidFill>
          <a:ln w="25400">
            <a:solidFill>
              <a:srgbClr val="0E74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128016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E7490"/>
                </a:solidFill>
              </a:defRPr>
            </a:pPr>
            <a:r>
              <a:t>EVIDENCE CHAIN STRUCTURE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64592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4748B"/>
                </a:solidFill>
              </a:defRPr>
            </a:pPr>
            <a:r>
              <a:t>┌─────────────────────────────────────┐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874519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4748B"/>
                </a:solidFill>
              </a:defRPr>
            </a:pPr>
            <a:r>
              <a:t>│  Similarity Score: 0.85  [85%]         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10312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4748B"/>
                </a:solidFill>
              </a:defRPr>
            </a:pPr>
            <a:r>
              <a:t>│  Method: cosine_embedding               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233172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4748B"/>
                </a:solidFill>
              </a:defRPr>
            </a:pPr>
            <a:r>
              <a:t>│  Source: 'Age of participant (years)'    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256032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4748B"/>
                </a:solidFill>
              </a:defRPr>
            </a:pPr>
            <a:r>
              <a:t>│  Target: NCIT:C25150 'Age'              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278892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4748B"/>
                </a:solidFill>
              </a:defRPr>
            </a:pPr>
            <a:r>
              <a:t>│  Def: 'How long something existed'      │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301752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4748B"/>
                </a:solidFill>
              </a:defRPr>
            </a:pPr>
            <a:r>
              <a:t>│  URI Verified: ✓ (HTTP 200)             │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4360" y="324612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4748B"/>
                </a:solidFill>
              </a:defRPr>
            </a:pPr>
            <a:r>
              <a:t>│  Reasoning: Cosine similarity 0.85      │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4360" y="347472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4748B"/>
                </a:solidFill>
              </a:defRPr>
            </a:pPr>
            <a:r>
              <a:t>│  between element and term. Relation:    │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4360" y="370332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4748B"/>
                </a:solidFill>
              </a:defRPr>
            </a:pPr>
            <a:r>
              <a:t>│  skos:closeMatch                        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4360" y="393192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4748B"/>
                </a:solidFill>
              </a:defRPr>
            </a:pPr>
            <a:r>
              <a:t>└─────────────────────────────────────┘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035040" y="1188720"/>
            <a:ext cx="5303520" cy="3200400"/>
          </a:xfrm>
          <a:prstGeom prst="roundRect">
            <a:avLst/>
          </a:prstGeom>
          <a:solidFill>
            <a:srgbClr val="F1F5F9"/>
          </a:solidFill>
          <a:ln w="25400">
            <a:solidFill>
              <a:srgbClr val="B4530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172200" y="128016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B45309"/>
                </a:solidFill>
              </a:defRPr>
            </a:pPr>
            <a:r>
              <a:t>THREE VERIFICATION LAYERS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172200" y="164592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4748B"/>
                </a:solidFill>
              </a:defRPr>
            </a:pPr>
            <a:r>
              <a:t>1. SEMANTIC SIMILARITY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172200" y="1874519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4748B"/>
                </a:solidFill>
              </a:defRPr>
            </a:pPr>
            <a:r>
              <a:t>   Embedding cosine score (0.0–1.0)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172200" y="210312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4748B"/>
                </a:solidFill>
              </a:defRPr>
            </a:pPr>
            <a:r>
              <a:t>   Threshold: 0.7 for annotation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172200" y="233172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4748B"/>
                </a:solidFill>
              </a:defRPr>
            </a:pPr>
          </a:p>
        </p:txBody>
      </p:sp>
      <p:sp>
        <p:nvSpPr>
          <p:cNvPr id="24" name="TextBox 23"/>
          <p:cNvSpPr txBox="1"/>
          <p:nvPr/>
        </p:nvSpPr>
        <p:spPr>
          <a:xfrm>
            <a:off x="6172200" y="256032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4748B"/>
                </a:solidFill>
              </a:defRPr>
            </a:pPr>
            <a:r>
              <a:t>2. LINK VERIFICATION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172200" y="278892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4748B"/>
                </a:solidFill>
              </a:defRPr>
            </a:pPr>
            <a:r>
              <a:t>   HTTP HEAD check on proposed URI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172200" y="301752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4748B"/>
                </a:solidFill>
              </a:defRPr>
            </a:pPr>
            <a:r>
              <a:t>   Detects stale ontology references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172200" y="324612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4748B"/>
                </a:solidFill>
              </a:defRPr>
            </a:pPr>
          </a:p>
        </p:txBody>
      </p:sp>
      <p:sp>
        <p:nvSpPr>
          <p:cNvPr id="28" name="TextBox 27"/>
          <p:cNvSpPr txBox="1"/>
          <p:nvPr/>
        </p:nvSpPr>
        <p:spPr>
          <a:xfrm>
            <a:off x="6172200" y="347472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4748B"/>
                </a:solidFill>
              </a:defRPr>
            </a:pPr>
            <a:r>
              <a:t>3. REASONING CHAIN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172200" y="370332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4748B"/>
                </a:solidFill>
              </a:defRPr>
            </a:pPr>
            <a:r>
              <a:t>   Step-by-step explanation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172200" y="393192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4748B"/>
                </a:solidFill>
              </a:defRPr>
            </a:pPr>
            <a:r>
              <a:t>   LLM or template generated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812280"/>
            <a:ext cx="12191695" cy="45720"/>
          </a:xfrm>
          <a:prstGeom prst="rect">
            <a:avLst/>
          </a:prstGeom>
          <a:solidFill>
            <a:srgbClr val="0E74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6576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1E293B"/>
                </a:solidFill>
              </a:defRPr>
            </a:pPr>
            <a:r>
              <a:t>Versioned Dependency Management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05840"/>
            <a:ext cx="1828800" cy="36576"/>
          </a:xfrm>
          <a:prstGeom prst="rect">
            <a:avLst/>
          </a:prstGeom>
          <a:solidFill>
            <a:srgbClr val="0E74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188720"/>
            <a:ext cx="10058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>
                <a:solidFill>
                  <a:srgbClr val="1E293B"/>
                </a:solidFill>
              </a:defRPr>
              <a:buClr>
                <a:srgbClr val="0E7490"/>
              </a:buClr>
              <a:buChar char="•"/>
            </a:pPr>
            <a:r>
              <a:t>Scheduled checksum comparison for all registered ontologies and sources</a:t>
            </a:r>
          </a:p>
          <a:p>
            <a:pPr>
              <a:spcAft>
                <a:spcPts val="800"/>
              </a:spcAft>
              <a:defRPr sz="2000">
                <a:solidFill>
                  <a:srgbClr val="1E293B"/>
                </a:solidFill>
              </a:defRPr>
              <a:buClr>
                <a:srgbClr val="0E7490"/>
              </a:buClr>
              <a:buChar char="•"/>
            </a:pPr>
            <a:r>
              <a:t>When change detected → automatic re-enrichment of affected entities</a:t>
            </a:r>
          </a:p>
          <a:p>
            <a:pPr>
              <a:spcAft>
                <a:spcPts val="800"/>
              </a:spcAft>
              <a:defRPr sz="2000">
                <a:solidFill>
                  <a:srgbClr val="1E293B"/>
                </a:solidFill>
              </a:defRPr>
              <a:buClr>
                <a:srgbClr val="0E7490"/>
              </a:buClr>
              <a:buChar char="•"/>
            </a:pPr>
            <a:r>
              <a:t>Curator-approved annotations preserved (curated_annotations field)</a:t>
            </a:r>
          </a:p>
          <a:p>
            <a:pPr>
              <a:spcAft>
                <a:spcPts val="800"/>
              </a:spcAft>
              <a:defRPr sz="2000">
                <a:solidFill>
                  <a:srgbClr val="1E293B"/>
                </a:solidFill>
              </a:defRPr>
              <a:buClr>
                <a:srgbClr val="0E7490"/>
              </a:buClr>
              <a:buChar char="•"/>
            </a:pPr>
            <a:r>
              <a:t>Only automated annotations from old version are re-evaluated</a:t>
            </a:r>
          </a:p>
          <a:p>
            <a:pPr>
              <a:spcAft>
                <a:spcPts val="800"/>
              </a:spcAft>
              <a:defRPr sz="2000">
                <a:solidFill>
                  <a:srgbClr val="1E293B"/>
                </a:solidFill>
              </a:defRPr>
              <a:buClr>
                <a:srgbClr val="0E7490"/>
              </a:buClr>
              <a:buChar char="•"/>
            </a:pPr>
            <a:r>
              <a:t>VersionTransition recorded: old checksum → new checksum → timestamp</a:t>
            </a:r>
          </a:p>
          <a:p>
            <a:pPr>
              <a:spcAft>
                <a:spcPts val="800"/>
              </a:spcAft>
              <a:defRPr sz="2000">
                <a:solidFill>
                  <a:srgbClr val="1E293B"/>
                </a:solidFill>
              </a:defRPr>
              <a:buClr>
                <a:srgbClr val="0E7490"/>
              </a:buClr>
              <a:buChar char="•"/>
            </a:pPr>
            <a:r>
              <a:t>checkDependencyVersions GraphQL mutation for manual trigger</a:t>
            </a:r>
          </a:p>
          <a:p>
            <a:pPr>
              <a:spcAft>
                <a:spcPts val="800"/>
              </a:spcAft>
              <a:defRPr sz="2000">
                <a:solidFill>
                  <a:srgbClr val="1E293B"/>
                </a:solidFill>
              </a:defRPr>
              <a:buClr>
                <a:srgbClr val="0E7490"/>
              </a:buClr>
              <a:buChar char="•"/>
            </a:pPr>
            <a:r>
              <a:t>HoMBA ontology loaded from brain-bican GitHub releases (OWL→TTL fallback)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812280"/>
            <a:ext cx="12191695" cy="45720"/>
          </a:xfrm>
          <a:prstGeom prst="rect">
            <a:avLst/>
          </a:prstGeom>
          <a:solidFill>
            <a:srgbClr val="0E74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6576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1E293B"/>
                </a:solidFill>
              </a:defRPr>
            </a:pPr>
            <a:r>
              <a:t>Polyglot Storage: Right Tool for Each Data Type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05840"/>
            <a:ext cx="1828800" cy="36576"/>
          </a:xfrm>
          <a:prstGeom prst="rect">
            <a:avLst/>
          </a:prstGeom>
          <a:solidFill>
            <a:srgbClr val="0E74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188720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E7490"/>
                </a:solidFill>
              </a:defRPr>
            </a:pPr>
            <a:r>
              <a:t>Data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474720" y="1188720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E7490"/>
                </a:solidFill>
              </a:defRPr>
            </a:pPr>
            <a:r>
              <a:t>Pattern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0" y="1188720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E7490"/>
                </a:solidFill>
              </a:defRPr>
            </a:pPr>
            <a:r>
              <a:t>File Backend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961120" y="1188720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E7490"/>
                </a:solidFill>
              </a:defRPr>
            </a:pPr>
            <a:r>
              <a:t>DB Backend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1645920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E293B"/>
                </a:solidFill>
              </a:defRPr>
            </a:pPr>
            <a:r>
              <a:t>Entities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474720" y="1645920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64748B"/>
                </a:solidFill>
              </a:defRPr>
            </a:pPr>
            <a:r>
              <a:t>CRUD, filter, paginate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17920" y="1645920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64748B"/>
                </a:solidFill>
              </a:defRPr>
            </a:pPr>
            <a:r>
              <a:t>YAML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961120" y="1645920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64748B"/>
                </a:solidFill>
              </a:defRPr>
            </a:pPr>
            <a:r>
              <a:t>PostgreSQL JSONB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2029968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E293B"/>
                </a:solidFill>
              </a:defRPr>
            </a:pPr>
            <a:r>
              <a:t>Ontology terms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474720" y="2029968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64748B"/>
                </a:solidFill>
              </a:defRPr>
            </a:pPr>
            <a:r>
              <a:t>Graph traversal, SPARQL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17920" y="2029968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64748B"/>
                </a:solidFill>
              </a:defRPr>
            </a:pPr>
            <a:r>
              <a:t>pyoxigraph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961120" y="2029968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64748B"/>
                </a:solidFill>
              </a:defRPr>
            </a:pPr>
            <a:r>
              <a:t>RDF store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2414016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E293B"/>
                </a:solidFill>
              </a:defRPr>
            </a:pPr>
            <a:r>
              <a:t>Embeddings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474720" y="2414016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64748B"/>
                </a:solidFill>
              </a:defRPr>
            </a:pPr>
            <a:r>
              <a:t>Nearest-neighbor, cosine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17920" y="2414016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64748B"/>
                </a:solidFill>
              </a:defRPr>
            </a:pPr>
            <a:r>
              <a:t>Parquet + numpy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961120" y="2414016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64748B"/>
                </a:solidFill>
              </a:defRPr>
            </a:pPr>
            <a:r>
              <a:t>pgvector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1520" y="2798064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E293B"/>
                </a:solidFill>
              </a:defRPr>
            </a:pPr>
            <a:r>
              <a:t>Full-text search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474720" y="2798064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64748B"/>
                </a:solidFill>
              </a:defRPr>
            </a:pPr>
            <a:r>
              <a:t>Keyword, faceted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17920" y="2798064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64748B"/>
                </a:solidFill>
              </a:defRPr>
            </a:pPr>
            <a:r>
              <a:t>grep/memory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961120" y="2798064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64748B"/>
                </a:solidFill>
              </a:defRPr>
            </a:pPr>
            <a:r>
              <a:t>tsvector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31520" y="3182112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E293B"/>
                </a:solidFill>
              </a:defRPr>
            </a:pPr>
            <a:r>
              <a:t>LLM cache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474720" y="3182112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64748B"/>
                </a:solidFill>
              </a:defRPr>
            </a:pPr>
            <a:r>
              <a:t>Key-value lookup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217920" y="3182112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64748B"/>
                </a:solidFill>
              </a:defRPr>
            </a:pPr>
            <a:r>
              <a:t>JSON file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961120" y="3182112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64748B"/>
                </a:solidFill>
              </a:defRPr>
            </a:pPr>
            <a:r>
              <a:t>PostgreSQL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31520" y="3566160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E293B"/>
                </a:solidFill>
              </a:defRPr>
            </a:pPr>
            <a:r>
              <a:t>Curation flags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474720" y="3566160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64748B"/>
                </a:solidFill>
              </a:defRPr>
            </a:pPr>
            <a:r>
              <a:t>CRUD, status filter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217920" y="3566160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64748B"/>
                </a:solidFill>
              </a:defRPr>
            </a:pPr>
            <a:r>
              <a:t>YAML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961120" y="3566160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64748B"/>
                </a:solidFill>
              </a:defRPr>
            </a:pPr>
            <a:r>
              <a:t>PostgreSQL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31520" y="3950208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E293B"/>
                </a:solidFill>
              </a:defRPr>
            </a:pPr>
            <a:r>
              <a:t>Audit log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474720" y="3950208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64748B"/>
                </a:solidFill>
              </a:defRPr>
            </a:pPr>
            <a:r>
              <a:t>Append-only, time-range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217920" y="3950208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64748B"/>
                </a:solidFill>
              </a:defRPr>
            </a:pPr>
            <a:r>
              <a:t>YAML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961120" y="3950208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64748B"/>
                </a:solidFill>
              </a:defRPr>
            </a:pPr>
            <a:r>
              <a:t>PostgreSQL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812280"/>
            <a:ext cx="12191695" cy="45720"/>
          </a:xfrm>
          <a:prstGeom prst="rect">
            <a:avLst/>
          </a:prstGeom>
          <a:solidFill>
            <a:srgbClr val="0E74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6576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1E293B"/>
                </a:solidFill>
              </a:defRPr>
            </a:pPr>
            <a:r>
              <a:t>GraphQL API: Single Unified Interface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05840"/>
            <a:ext cx="1828800" cy="36576"/>
          </a:xfrm>
          <a:prstGeom prst="rect">
            <a:avLst/>
          </a:prstGeom>
          <a:solidFill>
            <a:srgbClr val="0E74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457200" y="1188720"/>
            <a:ext cx="5303520" cy="3200400"/>
          </a:xfrm>
          <a:prstGeom prst="roundRect">
            <a:avLst/>
          </a:prstGeom>
          <a:solidFill>
            <a:srgbClr val="F1F5F9"/>
          </a:solidFill>
          <a:ln w="25400">
            <a:solidFill>
              <a:srgbClr val="0E74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128016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E7490"/>
                </a:solidFill>
              </a:defRPr>
            </a:pPr>
            <a:r>
              <a:t>QUERIES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64592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4748B"/>
                </a:solidFill>
              </a:defRPr>
            </a:pPr>
            <a:r>
              <a:t>element(sha256) → Element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874519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4748B"/>
                </a:solidFill>
              </a:defRPr>
            </a:pPr>
            <a:r>
              <a:t>browseElements(source, sort, search)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10312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4748B"/>
                </a:solidFill>
              </a:defRPr>
            </a:pPr>
            <a:r>
              <a:t>browseSchemas / browseValues / browseValuesets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233172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4748B"/>
                </a:solidFill>
              </a:defRPr>
            </a:pPr>
            <a:r>
              <a:t>search(query, mode) → SearchResult[]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256032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4748B"/>
                </a:solidFill>
              </a:defRPr>
            </a:pPr>
            <a:r>
              <a:t>curationQueue(flagType, status)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278892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4748B"/>
                </a:solidFill>
              </a:defRPr>
            </a:pPr>
            <a:r>
              <a:t>flagsForEntity / schemasUsingElement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301752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4748B"/>
                </a:solidFill>
              </a:defRPr>
            </a:pPr>
            <a:r>
              <a:t>transformsForElement / ontologyStoreInfo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4360" y="324612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4748B"/>
                </a:solidFill>
              </a:defRPr>
            </a:pPr>
            <a:r>
              <a:t>auditLog(entity, agent, activity)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4360" y="347472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4748B"/>
                </a:solidFill>
              </a:defRPr>
            </a:pPr>
            <a:r>
              <a:t>enrichmentProposals / releases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035040" y="1188720"/>
            <a:ext cx="5303520" cy="3200400"/>
          </a:xfrm>
          <a:prstGeom prst="roundRect">
            <a:avLst/>
          </a:prstGeom>
          <a:solidFill>
            <a:srgbClr val="F1F5F9"/>
          </a:solidFill>
          <a:ln w="25400">
            <a:solidFill>
              <a:srgbClr val="B4530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172200" y="128016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B45309"/>
                </a:solidFill>
              </a:defRPr>
            </a:pPr>
            <a:r>
              <a:t>MUTATIONS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172200" y="164592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4748B"/>
                </a:solidFill>
              </a:defRPr>
            </a:pPr>
            <a:r>
              <a:t>resolveFlag / batchResolveFlags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172200" y="1874519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4748B"/>
                </a:solidFill>
              </a:defRPr>
            </a:pPr>
            <a:r>
              <a:t>updateElement / updateSchema / updateValue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172200" y="210312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4748B"/>
                </a:solidFill>
              </a:defRPr>
            </a:pPr>
            <a:r>
              <a:t>approveAnnotation / rejectAnnotation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172200" y="233172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4748B"/>
                </a:solidFill>
              </a:defRPr>
            </a:pPr>
            <a:r>
              <a:t>versionElement(sha256, changes)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172200" y="256032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4748B"/>
                </a:solidFill>
              </a:defRPr>
            </a:pPr>
            <a:r>
              <a:t>approveIngestion / rejectIngestion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172200" y="278892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4748B"/>
                </a:solidFill>
              </a:defRPr>
            </a:pPr>
            <a:r>
              <a:t>reviewProposal / requestEnrichment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172200" y="301752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4748B"/>
                </a:solidFill>
              </a:defRPr>
            </a:pPr>
            <a:r>
              <a:t>importRegistry / exportRegistry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172200" y="324612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4748B"/>
                </a:solidFill>
              </a:defRPr>
            </a:pPr>
            <a:r>
              <a:t>checkDependencyVersions / tagRelease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812280"/>
            <a:ext cx="12191695" cy="45720"/>
          </a:xfrm>
          <a:prstGeom prst="rect">
            <a:avLst/>
          </a:prstGeom>
          <a:solidFill>
            <a:srgbClr val="0E74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6576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1E293B"/>
                </a:solidFill>
              </a:defRPr>
            </a:pPr>
            <a:r>
              <a:t>Testing: 436 Library Tests + Full Stack CI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05840"/>
            <a:ext cx="1828800" cy="36576"/>
          </a:xfrm>
          <a:prstGeom prst="rect">
            <a:avLst/>
          </a:prstGeom>
          <a:solidFill>
            <a:srgbClr val="0E74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1887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800" b="1">
                <a:solidFill>
                  <a:srgbClr val="15803D"/>
                </a:solidFill>
              </a:defRPr>
            </a:pPr>
            <a:r>
              <a:t>436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82880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64748B"/>
                </a:solidFill>
              </a:defRPr>
            </a:pPr>
            <a:r>
              <a:t>Library Tests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926080" y="11887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800" b="1">
                <a:solidFill>
                  <a:srgbClr val="0E7490"/>
                </a:solidFill>
              </a:defRPr>
            </a:pPr>
            <a:r>
              <a:t>16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26080" y="182880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64748B"/>
                </a:solidFill>
              </a:defRPr>
            </a:pPr>
            <a:r>
              <a:t>Transform Tests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212080" y="11887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800" b="1">
                <a:solidFill>
                  <a:srgbClr val="B45309"/>
                </a:solidFill>
              </a:defRPr>
            </a:pPr>
            <a:r>
              <a:t>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212080" y="182880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64748B"/>
                </a:solidFill>
              </a:defRPr>
            </a:pPr>
            <a:r>
              <a:t>CI Workflows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98079" y="11887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800" b="1">
                <a:solidFill>
                  <a:srgbClr val="15803D"/>
                </a:solidFill>
              </a:defRPr>
            </a:pPr>
            <a:r>
              <a:t>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98079" y="182880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64748B"/>
                </a:solidFill>
              </a:defRPr>
            </a:pPr>
            <a:r>
              <a:t>TS Errors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2834640"/>
            <a:ext cx="10058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1E293B"/>
                </a:solidFill>
              </a:defRPr>
              <a:buClr>
                <a:srgbClr val="0E7490"/>
              </a:buClr>
              <a:buChar char="•"/>
            </a:pPr>
            <a:r>
              <a:t>pytest + pytest-asyncio for all Python tests</a:t>
            </a:r>
          </a:p>
          <a:p>
            <a:pPr>
              <a:spcAft>
                <a:spcPts val="800"/>
              </a:spcAft>
              <a:defRPr sz="1800">
                <a:solidFill>
                  <a:srgbClr val="1E293B"/>
                </a:solidFill>
              </a:defRPr>
              <a:buClr>
                <a:srgbClr val="0E7490"/>
              </a:buClr>
              <a:buChar char="•"/>
            </a:pPr>
            <a:r>
              <a:t>TypeScript strict mode with zero non-test errors</a:t>
            </a:r>
          </a:p>
          <a:p>
            <a:pPr>
              <a:spcAft>
                <a:spcPts val="800"/>
              </a:spcAft>
              <a:defRPr sz="1800">
                <a:solidFill>
                  <a:srgbClr val="1E293B"/>
                </a:solidFill>
              </a:defRPr>
              <a:buClr>
                <a:srgbClr val="0E7490"/>
              </a:buClr>
              <a:buChar char="•"/>
            </a:pPr>
            <a:r>
              <a:t>GitHub Actions: library, backend, frontend, e2e, lint, build-images</a:t>
            </a:r>
          </a:p>
          <a:p>
            <a:pPr>
              <a:spcAft>
                <a:spcPts val="800"/>
              </a:spcAft>
              <a:defRPr sz="1800">
                <a:solidFill>
                  <a:srgbClr val="1E293B"/>
                </a:solidFill>
              </a:defRPr>
              <a:buClr>
                <a:srgbClr val="0E7490"/>
              </a:buClr>
              <a:buChar char="•"/>
            </a:pPr>
            <a:r>
              <a:t>Actions updated to v5/v6 (Node.js 24 compatible)</a:t>
            </a:r>
          </a:p>
          <a:p>
            <a:pPr>
              <a:spcAft>
                <a:spcPts val="800"/>
              </a:spcAft>
              <a:defRPr sz="1800">
                <a:solidFill>
                  <a:srgbClr val="1E293B"/>
                </a:solidFill>
              </a:defRPr>
              <a:buClr>
                <a:srgbClr val="0E7490"/>
              </a:buClr>
              <a:buChar char="•"/>
            </a:pPr>
            <a:r>
              <a:t>Docker compose for integration testing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812280"/>
            <a:ext cx="12191695" cy="45720"/>
          </a:xfrm>
          <a:prstGeom prst="rect">
            <a:avLst/>
          </a:prstGeom>
          <a:solidFill>
            <a:srgbClr val="0E74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6576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1E293B"/>
                </a:solidFill>
              </a:defRPr>
            </a:pPr>
            <a:r>
              <a:t>Standing on the Shoulders of Giants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05840"/>
            <a:ext cx="1828800" cy="36576"/>
          </a:xfrm>
          <a:prstGeom prst="rect">
            <a:avLst/>
          </a:prstGeom>
          <a:solidFill>
            <a:srgbClr val="0E74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457200" y="1188720"/>
            <a:ext cx="3474720" cy="3200400"/>
          </a:xfrm>
          <a:prstGeom prst="roundRect">
            <a:avLst/>
          </a:prstGeom>
          <a:solidFill>
            <a:srgbClr val="F1F5F9"/>
          </a:solidFill>
          <a:ln w="25400">
            <a:solidFill>
              <a:srgbClr val="0E74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128016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E7490"/>
                </a:solidFill>
              </a:defRPr>
            </a:pPr>
            <a:r>
              <a:t>NEUROSCIENCE STANDARDS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64592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4748B"/>
                </a:solidFill>
              </a:defRPr>
            </a:pPr>
            <a:r>
              <a:t>BIDS — Gorgolewski et al., 2016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874519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4748B"/>
                </a:solidFill>
              </a:defRPr>
            </a:pPr>
            <a:r>
              <a:t>NWB — Teeters et al., 2015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10312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4748B"/>
                </a:solidFill>
              </a:defRPr>
            </a:pPr>
            <a:r>
              <a:t>DANDI — Halchenko et al., 2024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233172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4748B"/>
                </a:solidFill>
              </a:defRPr>
            </a:pPr>
            <a:r>
              <a:t>openMINDS — Zehl et al., 2023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256032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4748B"/>
                </a:solidFill>
              </a:defRPr>
            </a:pPr>
            <a:r>
              <a:t>AIND — Allen Institute, 2023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278892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4748B"/>
                </a:solidFill>
              </a:defRPr>
            </a:pPr>
            <a:r>
              <a:t>ReproSchema — ReproNim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301752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4748B"/>
                </a:solidFill>
              </a:defRPr>
            </a:pPr>
            <a:r>
              <a:t>NDA — NIMH Data Archive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206240" y="1188720"/>
            <a:ext cx="3474720" cy="3200400"/>
          </a:xfrm>
          <a:prstGeom prst="roundRect">
            <a:avLst/>
          </a:prstGeom>
          <a:solidFill>
            <a:srgbClr val="F1F5F9"/>
          </a:solidFill>
          <a:ln w="25400">
            <a:solidFill>
              <a:srgbClr val="B4530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343400" y="128016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B45309"/>
                </a:solidFill>
              </a:defRPr>
            </a:pPr>
            <a:r>
              <a:t>KNOWLEDGE RESOURCES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343400" y="164592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4748B"/>
                </a:solidFill>
              </a:defRPr>
            </a:pPr>
            <a:r>
              <a:t>NCIT — NCI Thesaurus (209K)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343400" y="1874519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4748B"/>
                </a:solidFill>
              </a:defRPr>
            </a:pPr>
            <a:r>
              <a:t>UBERON — Anatomy ontology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343400" y="210312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4748B"/>
                </a:solidFill>
              </a:defRPr>
            </a:pPr>
            <a:r>
              <a:t>PATO — Phenotype/trait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343400" y="233172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4748B"/>
                </a:solidFill>
              </a:defRPr>
            </a:pPr>
            <a:r>
              <a:t>RadLex — Radiology (46K)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343400" y="256032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4748B"/>
                </a:solidFill>
              </a:defRPr>
            </a:pPr>
            <a:r>
              <a:t>DICOM — Imaging (5K)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343400" y="278892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4748B"/>
                </a:solidFill>
              </a:defRPr>
            </a:pPr>
            <a:r>
              <a:t>NIDM — Neuroimaging DM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343400" y="301752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4748B"/>
                </a:solidFill>
              </a:defRPr>
            </a:pPr>
            <a:r>
              <a:t>HoMBA — Brain anatomy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343400" y="324612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4748B"/>
                </a:solidFill>
              </a:defRPr>
            </a:pPr>
            <a:r>
              <a:t>Cognitive Atlas — Poldrack et al.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955279" y="1188720"/>
            <a:ext cx="3474720" cy="3200400"/>
          </a:xfrm>
          <a:prstGeom prst="roundRect">
            <a:avLst/>
          </a:prstGeom>
          <a:solidFill>
            <a:srgbClr val="F1F5F9"/>
          </a:solidFill>
          <a:ln w="25400">
            <a:solidFill>
              <a:srgbClr val="1580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092440" y="128016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5803D"/>
                </a:solidFill>
              </a:defRPr>
            </a:pPr>
            <a:r>
              <a:t>TECHNOLOGIES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092440" y="164592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4748B"/>
                </a:solidFill>
              </a:defRPr>
            </a:pPr>
            <a:r>
              <a:t>LinkML — Moxon et al., 2021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092440" y="1874519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4748B"/>
                </a:solidFill>
              </a:defRPr>
            </a:pPr>
            <a:r>
              <a:t>SKOS — W3C vocabulary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092440" y="210312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4748B"/>
                </a:solidFill>
              </a:defRPr>
            </a:pPr>
            <a:r>
              <a:t>W3C PROV-O — provenance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092440" y="233172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4748B"/>
                </a:solidFill>
              </a:defRPr>
            </a:pPr>
            <a:r>
              <a:t>sentence-transformers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092440" y="256032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4748B"/>
                </a:solidFill>
              </a:defRPr>
            </a:pPr>
            <a:r>
              <a:t>pyoxigraph — RDF store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092440" y="278892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4748B"/>
                </a:solidFill>
              </a:defRPr>
            </a:pPr>
            <a:r>
              <a:t>pgvector — embeddings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092440" y="301752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4748B"/>
                </a:solidFill>
              </a:defRPr>
            </a:pPr>
            <a:r>
              <a:t>litellm — LLM abstraction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092440" y="324612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4748B"/>
                </a:solidFill>
              </a:defRPr>
            </a:pPr>
            <a:r>
              <a:t>datalad — distributed data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092440" y="347472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4748B"/>
                </a:solidFill>
              </a:defRPr>
            </a:pPr>
            <a:r>
              <a:t>CivicDB — curation model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812280"/>
            <a:ext cx="12191695" cy="45720"/>
          </a:xfrm>
          <a:prstGeom prst="rect">
            <a:avLst/>
          </a:prstGeom>
          <a:solidFill>
            <a:srgbClr val="0E74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6576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1E293B"/>
                </a:solidFill>
              </a:defRPr>
            </a:pPr>
            <a:r>
              <a:t>Community Curation Model (Inspired by CivicDB)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05840"/>
            <a:ext cx="1828800" cy="36576"/>
          </a:xfrm>
          <a:prstGeom prst="rect">
            <a:avLst/>
          </a:prstGeom>
          <a:solidFill>
            <a:srgbClr val="0E74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188720"/>
            <a:ext cx="10058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>
                <a:solidFill>
                  <a:srgbClr val="1E293B"/>
                </a:solidFill>
              </a:defRPr>
              <a:buClr>
                <a:srgbClr val="0E7490"/>
              </a:buClr>
              <a:buChar char="•"/>
            </a:pPr>
            <a:r>
              <a:t>Three-tier graduated engagement: Contributor → Curator → Admin</a:t>
            </a:r>
          </a:p>
          <a:p>
            <a:pPr>
              <a:spcAft>
                <a:spcPts val="800"/>
              </a:spcAft>
              <a:defRPr sz="2000">
                <a:solidFill>
                  <a:srgbClr val="1E293B"/>
                </a:solidFill>
              </a:defRPr>
              <a:buClr>
                <a:srgbClr val="0E7490"/>
              </a:buClr>
              <a:buChar char="•"/>
            </a:pPr>
            <a:r>
              <a:t>Revision-based: suggestions with evidence, curator approves/rejects</a:t>
            </a:r>
          </a:p>
          <a:p>
            <a:pPr>
              <a:spcAft>
                <a:spcPts val="800"/>
              </a:spcAft>
              <a:defRPr sz="2000">
                <a:solidFill>
                  <a:srgbClr val="1E293B"/>
                </a:solidFill>
              </a:defRPr>
              <a:buClr>
                <a:srgbClr val="0E7490"/>
              </a:buClr>
              <a:buChar char="•"/>
            </a:pPr>
            <a:r>
              <a:t>Polymorphic concerns: any entity type can be commented, flagged, subscribed to</a:t>
            </a:r>
          </a:p>
          <a:p>
            <a:pPr>
              <a:spcAft>
                <a:spcPts val="800"/>
              </a:spcAft>
              <a:defRPr sz="2000">
                <a:solidFill>
                  <a:srgbClr val="1E293B"/>
                </a:solidFill>
              </a:defRPr>
              <a:buClr>
                <a:srgbClr val="0E7490"/>
              </a:buClr>
              <a:buChar char="•"/>
            </a:pPr>
            <a:r>
              <a:t>Evidence panels: automated match candidates + scores, LLM verification</a:t>
            </a:r>
          </a:p>
          <a:p>
            <a:pPr>
              <a:spcAft>
                <a:spcPts val="800"/>
              </a:spcAft>
              <a:defRPr sz="2000">
                <a:solidFill>
                  <a:srgbClr val="1E293B"/>
                </a:solidFill>
              </a:defRPr>
              <a:buClr>
                <a:srgbClr val="0E7490"/>
              </a:buClr>
              <a:buChar char="•"/>
            </a:pPr>
            <a:r>
              <a:t>Activity feed filterable by action, user, source</a:t>
            </a:r>
          </a:p>
          <a:p>
            <a:pPr>
              <a:spcAft>
                <a:spcPts val="800"/>
              </a:spcAft>
              <a:defRPr sz="2000">
                <a:solidFill>
                  <a:srgbClr val="1E293B"/>
                </a:solidFill>
              </a:defRPr>
              <a:buClr>
                <a:srgbClr val="0E7490"/>
              </a:buClr>
              <a:buChar char="•"/>
            </a:pPr>
            <a:r>
              <a:t>Organization-level attribution and contribution statistics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02920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B45309"/>
                </a:solidFill>
              </a:defRPr>
            </a:pPr>
            <a:r>
              <a:t>Every change goes through curation — no automated change applied without review.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812280"/>
            <a:ext cx="12191695" cy="45720"/>
          </a:xfrm>
          <a:prstGeom prst="rect">
            <a:avLst/>
          </a:prstGeom>
          <a:solidFill>
            <a:srgbClr val="0E74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6576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1E293B"/>
                </a:solidFill>
              </a:defRPr>
            </a:pPr>
            <a:r>
              <a:t>Data Export &amp; Downloads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05840"/>
            <a:ext cx="1828800" cy="36576"/>
          </a:xfrm>
          <a:prstGeom prst="rect">
            <a:avLst/>
          </a:prstGeom>
          <a:solidFill>
            <a:srgbClr val="0E74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188720"/>
            <a:ext cx="10058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>
                <a:solidFill>
                  <a:srgbClr val="1E293B"/>
                </a:solidFill>
              </a:defRPr>
              <a:buClr>
                <a:srgbClr val="0E7490"/>
              </a:buClr>
              <a:buChar char="•"/>
            </a:pPr>
            <a:r>
              <a:t>Nightly export scheduler: asyncio background task, daily archive production</a:t>
            </a:r>
          </a:p>
          <a:p>
            <a:pPr>
              <a:spcAft>
                <a:spcPts val="800"/>
              </a:spcAft>
              <a:defRPr sz="2000">
                <a:solidFill>
                  <a:srgbClr val="1E293B"/>
                </a:solidFill>
              </a:defRPr>
              <a:buClr>
                <a:srgbClr val="0E7490"/>
              </a:buClr>
              <a:buChar char="•"/>
            </a:pPr>
            <a:r>
              <a:t>Export format: YAML entities + Parquet embeddings + manifest</a:t>
            </a:r>
          </a:p>
          <a:p>
            <a:pPr>
              <a:spcAft>
                <a:spcPts val="800"/>
              </a:spcAft>
              <a:defRPr sz="2000">
                <a:solidFill>
                  <a:srgbClr val="1E293B"/>
                </a:solidFill>
              </a:defRPr>
              <a:buClr>
                <a:srgbClr val="0E7490"/>
              </a:buClr>
              <a:buChar char="•"/>
            </a:pPr>
            <a:r>
              <a:t>Release records: version, file size, entity counts, download count</a:t>
            </a:r>
          </a:p>
          <a:p>
            <a:pPr>
              <a:spcAft>
                <a:spcPts val="800"/>
              </a:spcAft>
              <a:defRPr sz="2000">
                <a:solidFill>
                  <a:srgbClr val="1E293B"/>
                </a:solidFill>
              </a:defRPr>
              <a:buClr>
                <a:srgbClr val="0E7490"/>
              </a:buClr>
              <a:buChar char="•"/>
            </a:pPr>
            <a:r>
              <a:t>Static file serving at /api/downloads/</a:t>
            </a:r>
          </a:p>
          <a:p>
            <a:pPr>
              <a:spcAft>
                <a:spcPts val="800"/>
              </a:spcAft>
              <a:defRPr sz="2000">
                <a:solidFill>
                  <a:srgbClr val="1E293B"/>
                </a:solidFill>
              </a:defRPr>
              <a:buClr>
                <a:srgbClr val="0E7490"/>
              </a:buClr>
              <a:buChar char="•"/>
            </a:pPr>
            <a:r>
              <a:t>Downloads page in UI with version, date, size, entity counts</a:t>
            </a:r>
          </a:p>
          <a:p>
            <a:pPr>
              <a:spcAft>
                <a:spcPts val="800"/>
              </a:spcAft>
              <a:defRPr sz="2000">
                <a:solidFill>
                  <a:srgbClr val="1E293B"/>
                </a:solidFill>
              </a:defRPr>
              <a:buClr>
                <a:srgbClr val="0E7490"/>
              </a:buClr>
              <a:buChar char="•"/>
            </a:pPr>
            <a:r>
              <a:t>Versioned releases: tag any nightly export with a version string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812280"/>
            <a:ext cx="12191695" cy="45720"/>
          </a:xfrm>
          <a:prstGeom prst="rect">
            <a:avLst/>
          </a:prstGeom>
          <a:solidFill>
            <a:srgbClr val="0E74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6576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1E293B"/>
                </a:solidFill>
              </a:defRPr>
            </a:pPr>
            <a:r>
              <a:t>Cross-Ecosystem Impact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05840"/>
            <a:ext cx="1828800" cy="36576"/>
          </a:xfrm>
          <a:prstGeom prst="rect">
            <a:avLst/>
          </a:prstGeom>
          <a:solidFill>
            <a:srgbClr val="0E74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18872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C2410C"/>
                </a:solidFill>
              </a:defRPr>
            </a:pPr>
            <a:r>
              <a:t>Before undata: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554480"/>
            <a:ext cx="10058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1E293B"/>
                </a:solidFill>
              </a:defRPr>
              <a:buClr>
                <a:srgbClr val="0E7490"/>
              </a:buClr>
              <a:buChar char="•"/>
            </a:pPr>
            <a:r>
              <a:t>Each ecosystem defines 'age' independently</a:t>
            </a:r>
          </a:p>
          <a:p>
            <a:pPr>
              <a:spcAft>
                <a:spcPts val="800"/>
              </a:spcAft>
              <a:defRPr sz="1800">
                <a:solidFill>
                  <a:srgbClr val="1E293B"/>
                </a:solidFill>
              </a:defRPr>
              <a:buClr>
                <a:srgbClr val="0E7490"/>
              </a:buClr>
              <a:buChar char="•"/>
            </a:pPr>
            <a:r>
              <a:t>Converting BIDS↔NWB requires custom scripts per field</a:t>
            </a:r>
          </a:p>
          <a:p>
            <a:pPr>
              <a:spcAft>
                <a:spcPts val="800"/>
              </a:spcAft>
              <a:defRPr sz="1800">
                <a:solidFill>
                  <a:srgbClr val="1E293B"/>
                </a:solidFill>
              </a:defRPr>
              <a:buClr>
                <a:srgbClr val="0E7490"/>
              </a:buClr>
              <a:buChar char="•"/>
            </a:pPr>
            <a:r>
              <a:t>No machine-readable way to discover equivalences</a:t>
            </a:r>
          </a:p>
          <a:p>
            <a:pPr>
              <a:spcAft>
                <a:spcPts val="800"/>
              </a:spcAft>
              <a:defRPr sz="1800">
                <a:solidFill>
                  <a:srgbClr val="1E293B"/>
                </a:solidFill>
              </a:defRPr>
              <a:buClr>
                <a:srgbClr val="0E7490"/>
              </a:buClr>
              <a:buChar char="•"/>
            </a:pPr>
            <a:r>
              <a:t>Transformation provenance lost in pipeline scripts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347472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5803D"/>
                </a:solidFill>
              </a:defRPr>
            </a:pPr>
            <a:r>
              <a:t>After undata: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840480"/>
            <a:ext cx="10058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1E293B"/>
                </a:solidFill>
              </a:defRPr>
              <a:buClr>
                <a:srgbClr val="0E7490"/>
              </a:buClr>
              <a:buChar char="•"/>
            </a:pPr>
            <a:r>
              <a:t>One 'age' element with provenance from 5+ sources</a:t>
            </a:r>
          </a:p>
          <a:p>
            <a:pPr>
              <a:spcAft>
                <a:spcPts val="800"/>
              </a:spcAft>
              <a:defRPr sz="1800">
                <a:solidFill>
                  <a:srgbClr val="1E293B"/>
                </a:solidFill>
              </a:defRPr>
              <a:buClr>
                <a:srgbClr val="0E7490"/>
              </a:buClr>
              <a:buChar char="•"/>
            </a:pPr>
            <a:r>
              <a:t>Transforms auto-generated with documented logic</a:t>
            </a:r>
          </a:p>
          <a:p>
            <a:pPr>
              <a:spcAft>
                <a:spcPts val="800"/>
              </a:spcAft>
              <a:defRPr sz="1800">
                <a:solidFill>
                  <a:srgbClr val="1E293B"/>
                </a:solidFill>
              </a:defRPr>
              <a:buClr>
                <a:srgbClr val="0E7490"/>
              </a:buClr>
              <a:buChar char="•"/>
            </a:pPr>
            <a:r>
              <a:t>Semantic search finds related concepts across ecosystems</a:t>
            </a:r>
          </a:p>
          <a:p>
            <a:pPr>
              <a:spcAft>
                <a:spcPts val="800"/>
              </a:spcAft>
              <a:defRPr sz="1800">
                <a:solidFill>
                  <a:srgbClr val="1E293B"/>
                </a:solidFill>
              </a:defRPr>
              <a:buClr>
                <a:srgbClr val="0E7490"/>
              </a:buClr>
              <a:buChar char="•"/>
            </a:pPr>
            <a:r>
              <a:t>Every annotation backed by evidence chain + curation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812280"/>
            <a:ext cx="12191695" cy="45720"/>
          </a:xfrm>
          <a:prstGeom prst="rect">
            <a:avLst/>
          </a:prstGeom>
          <a:solidFill>
            <a:srgbClr val="0E74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6576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1E293B"/>
                </a:solidFill>
              </a:defRPr>
            </a:pPr>
            <a:r>
              <a:t>Reproducibility Through Provenance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05840"/>
            <a:ext cx="1828800" cy="36576"/>
          </a:xfrm>
          <a:prstGeom prst="rect">
            <a:avLst/>
          </a:prstGeom>
          <a:solidFill>
            <a:srgbClr val="0E74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188720"/>
            <a:ext cx="10058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>
                <a:solidFill>
                  <a:srgbClr val="1E293B"/>
                </a:solidFill>
              </a:defRPr>
              <a:buClr>
                <a:srgbClr val="0E7490"/>
              </a:buClr>
              <a:buChar char="•"/>
            </a:pPr>
            <a:r>
              <a:t>Content-addressed identity: same semantic → same hash, deterministic</a:t>
            </a:r>
          </a:p>
          <a:p>
            <a:pPr>
              <a:spcAft>
                <a:spcPts val="800"/>
              </a:spcAft>
              <a:defRPr sz="2000">
                <a:solidFill>
                  <a:srgbClr val="1E293B"/>
                </a:solidFill>
              </a:defRPr>
              <a:buClr>
                <a:srgbClr val="0E7490"/>
              </a:buClr>
              <a:buChar char="•"/>
            </a:pPr>
            <a:r>
              <a:t>W3C PROV-O audit trail: who, what, when, why, and what was generated</a:t>
            </a:r>
          </a:p>
          <a:p>
            <a:pPr>
              <a:spcAft>
                <a:spcPts val="800"/>
              </a:spcAft>
              <a:defRPr sz="2000">
                <a:solidFill>
                  <a:srgbClr val="1E293B"/>
                </a:solidFill>
              </a:defRPr>
              <a:buClr>
                <a:srgbClr val="0E7490"/>
              </a:buClr>
              <a:buChar char="•"/>
            </a:pPr>
            <a:r>
              <a:t>Version transitions: old ontology → new ontology → affected entities</a:t>
            </a:r>
          </a:p>
          <a:p>
            <a:pPr>
              <a:spcAft>
                <a:spcPts val="800"/>
              </a:spcAft>
              <a:defRPr sz="2000">
                <a:solidFill>
                  <a:srgbClr val="1E293B"/>
                </a:solidFill>
              </a:defRPr>
              <a:buClr>
                <a:srgbClr val="0E7490"/>
              </a:buClr>
              <a:buChar char="•"/>
            </a:pPr>
            <a:r>
              <a:t>Transform provenance: explicit conversion logic, not hidden scripts</a:t>
            </a:r>
          </a:p>
          <a:p>
            <a:pPr>
              <a:spcAft>
                <a:spcPts val="800"/>
              </a:spcAft>
              <a:defRPr sz="2000">
                <a:solidFill>
                  <a:srgbClr val="1E293B"/>
                </a:solidFill>
              </a:defRPr>
              <a:buClr>
                <a:srgbClr val="0E7490"/>
              </a:buClr>
              <a:buChar char="•"/>
            </a:pPr>
            <a:r>
              <a:t>Curation flags: machine-generated quality concerns for human review</a:t>
            </a:r>
          </a:p>
          <a:p>
            <a:pPr>
              <a:spcAft>
                <a:spcPts val="800"/>
              </a:spcAft>
              <a:defRPr sz="2000">
                <a:solidFill>
                  <a:srgbClr val="1E293B"/>
                </a:solidFill>
              </a:defRPr>
              <a:buClr>
                <a:srgbClr val="0E7490"/>
              </a:buClr>
              <a:buChar char="•"/>
            </a:pPr>
            <a:r>
              <a:t>Nightly exports: timestamped, versioned snapshots of complete registry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812280"/>
            <a:ext cx="12191695" cy="45720"/>
          </a:xfrm>
          <a:prstGeom prst="rect">
            <a:avLst/>
          </a:prstGeom>
          <a:solidFill>
            <a:srgbClr val="0E74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6576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1E293B"/>
                </a:solidFill>
              </a:defRPr>
            </a:pPr>
            <a:r>
              <a:t>Scalability &amp; Performance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05840"/>
            <a:ext cx="1828800" cy="36576"/>
          </a:xfrm>
          <a:prstGeom prst="rect">
            <a:avLst/>
          </a:prstGeom>
          <a:solidFill>
            <a:srgbClr val="0E74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1887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800" b="1">
                <a:solidFill>
                  <a:srgbClr val="0E7490"/>
                </a:solidFill>
              </a:defRPr>
            </a:pPr>
            <a:r>
              <a:t>&lt;5s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82880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64748B"/>
                </a:solidFill>
              </a:defRPr>
            </a:pPr>
            <a:r>
              <a:t>Chat response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926080" y="11887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800" b="1">
                <a:solidFill>
                  <a:srgbClr val="B45309"/>
                </a:solidFill>
              </a:defRPr>
            </a:pPr>
            <a:r>
              <a:t>&lt;1s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26080" y="182880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64748B"/>
                </a:solidFill>
              </a:defRPr>
            </a:pPr>
            <a:r>
              <a:t>Search latency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212080" y="11887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800" b="1">
                <a:solidFill>
                  <a:srgbClr val="15803D"/>
                </a:solidFill>
              </a:defRPr>
            </a:pPr>
            <a:r>
              <a:t>&lt;10m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212080" y="182880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64748B"/>
                </a:solidFill>
              </a:defRPr>
            </a:pPr>
            <a:r>
              <a:t>Pipeline run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98079" y="11887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800" b="1">
                <a:solidFill>
                  <a:srgbClr val="C2410C"/>
                </a:solidFill>
              </a:defRPr>
            </a:pPr>
            <a:r>
              <a:t>7K+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98079" y="182880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64748B"/>
                </a:solidFill>
              </a:defRPr>
            </a:pPr>
            <a:r>
              <a:t>Elements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2834640"/>
            <a:ext cx="10058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1E293B"/>
                </a:solidFill>
              </a:defRPr>
              <a:buClr>
                <a:srgbClr val="0E7490"/>
              </a:buClr>
              <a:buChar char="•"/>
            </a:pPr>
            <a:r>
              <a:t>PostgreSQL 16 JSONB for flexible entity storage at scale</a:t>
            </a:r>
          </a:p>
          <a:p>
            <a:pPr>
              <a:spcAft>
                <a:spcPts val="800"/>
              </a:spcAft>
              <a:defRPr sz="1800">
                <a:solidFill>
                  <a:srgbClr val="1E293B"/>
                </a:solidFill>
              </a:defRPr>
              <a:buClr>
                <a:srgbClr val="0E7490"/>
              </a:buClr>
              <a:buChar char="•"/>
            </a:pPr>
            <a:r>
              <a:t>pgvector for embedding nearest-neighbor in milliseconds</a:t>
            </a:r>
          </a:p>
          <a:p>
            <a:pPr>
              <a:spcAft>
                <a:spcPts val="800"/>
              </a:spcAft>
              <a:defRPr sz="1800">
                <a:solidFill>
                  <a:srgbClr val="1E293B"/>
                </a:solidFill>
              </a:defRPr>
              <a:buClr>
                <a:srgbClr val="0E7490"/>
              </a:buClr>
              <a:buChar char="•"/>
            </a:pPr>
            <a:r>
              <a:t>Cursor-based pagination (not offset) for consistent performance</a:t>
            </a:r>
          </a:p>
          <a:p>
            <a:pPr>
              <a:spcAft>
                <a:spcPts val="800"/>
              </a:spcAft>
              <a:defRPr sz="1800">
                <a:solidFill>
                  <a:srgbClr val="1E293B"/>
                </a:solidFill>
              </a:defRPr>
              <a:buClr>
                <a:srgbClr val="0E7490"/>
              </a:buClr>
              <a:buChar char="•"/>
            </a:pPr>
            <a:r>
              <a:t>Ontology store handles 2.99M terms in pyoxigraph</a:t>
            </a:r>
          </a:p>
          <a:p>
            <a:pPr>
              <a:spcAft>
                <a:spcPts val="800"/>
              </a:spcAft>
              <a:defRPr sz="1800">
                <a:solidFill>
                  <a:srgbClr val="1E293B"/>
                </a:solidFill>
              </a:defRPr>
              <a:buClr>
                <a:srgbClr val="0E7490"/>
              </a:buClr>
              <a:buChar char="•"/>
            </a:pPr>
            <a:r>
              <a:t>Apollo cache with paginationMerge for frontend efficiency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812280"/>
            <a:ext cx="12191695" cy="45720"/>
          </a:xfrm>
          <a:prstGeom prst="rect">
            <a:avLst/>
          </a:prstGeom>
          <a:solidFill>
            <a:srgbClr val="0E74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6576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1E293B"/>
                </a:solidFill>
              </a:defRPr>
            </a:pPr>
            <a:r>
              <a:t>Developer Experience: One Command to Everything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05840"/>
            <a:ext cx="1828800" cy="36576"/>
          </a:xfrm>
          <a:prstGeom prst="rect">
            <a:avLst/>
          </a:prstGeom>
          <a:solidFill>
            <a:srgbClr val="0E74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1887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0">
                <a:solidFill>
                  <a:srgbClr val="0E7490"/>
                </a:solidFill>
              </a:defRPr>
            </a:pPr>
            <a:r>
              <a:t>$ docker compose up -d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64592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64748B"/>
                </a:solidFill>
              </a:defRPr>
            </a:pPr>
            <a:r>
              <a:t>→ Database seeded  •  Backend running  •  Frontend live  •  Auth configured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286000"/>
            <a:ext cx="10058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1E293B"/>
                </a:solidFill>
              </a:defRPr>
              <a:buClr>
                <a:srgbClr val="0E7490"/>
              </a:buClr>
              <a:buChar char="•"/>
            </a:pPr>
            <a:r>
              <a:t>Library standalone: uv run undata-library pipeline --source bids (no Docker)</a:t>
            </a:r>
          </a:p>
          <a:p>
            <a:pPr>
              <a:spcAft>
                <a:spcPts val="800"/>
              </a:spcAft>
              <a:defRPr sz="1800">
                <a:solidFill>
                  <a:srgbClr val="1E293B"/>
                </a:solidFill>
              </a:defRPr>
              <a:buClr>
                <a:srgbClr val="0E7490"/>
              </a:buClr>
              <a:buChar char="•"/>
            </a:pPr>
            <a:r>
              <a:t>Hot reload for backend and frontend development</a:t>
            </a:r>
          </a:p>
          <a:p>
            <a:pPr>
              <a:spcAft>
                <a:spcPts val="800"/>
              </a:spcAft>
              <a:defRPr sz="1800">
                <a:solidFill>
                  <a:srgbClr val="1E293B"/>
                </a:solidFill>
              </a:defRPr>
              <a:buClr>
                <a:srgbClr val="0E7490"/>
              </a:buClr>
              <a:buChar char="•"/>
            </a:pPr>
            <a:r>
              <a:t>docker-compose.override.yml for full registry mounting</a:t>
            </a:r>
          </a:p>
          <a:p>
            <a:pPr>
              <a:spcAft>
                <a:spcPts val="800"/>
              </a:spcAft>
              <a:defRPr sz="1800">
                <a:solidFill>
                  <a:srgbClr val="1E293B"/>
                </a:solidFill>
              </a:defRPr>
              <a:buClr>
                <a:srgbClr val="0E7490"/>
              </a:buClr>
              <a:buChar char="•"/>
            </a:pPr>
            <a:r>
              <a:t>Curated seed subset (70 elements, 7 sources) committed for quick start</a:t>
            </a:r>
          </a:p>
          <a:p>
            <a:pPr>
              <a:spcAft>
                <a:spcPts val="800"/>
              </a:spcAft>
              <a:defRPr sz="1800">
                <a:solidFill>
                  <a:srgbClr val="1E293B"/>
                </a:solidFill>
              </a:defRPr>
              <a:buClr>
                <a:srgbClr val="0E7490"/>
              </a:buClr>
              <a:buChar char="•"/>
            </a:pPr>
            <a:r>
              <a:t>Full registry at ~/.cache/undata/registry/ for comprehensive testing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812280"/>
            <a:ext cx="12191695" cy="45720"/>
          </a:xfrm>
          <a:prstGeom prst="rect">
            <a:avLst/>
          </a:prstGeom>
          <a:solidFill>
            <a:srgbClr val="0E74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6576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1E293B"/>
                </a:solidFill>
              </a:defRPr>
            </a:pPr>
            <a:r>
              <a:t>What's Next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05840"/>
            <a:ext cx="1828800" cy="36576"/>
          </a:xfrm>
          <a:prstGeom prst="rect">
            <a:avLst/>
          </a:prstGeom>
          <a:solidFill>
            <a:srgbClr val="0E74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457200" y="1188720"/>
            <a:ext cx="3474720" cy="2743200"/>
          </a:xfrm>
          <a:prstGeom prst="roundRect">
            <a:avLst/>
          </a:prstGeom>
          <a:solidFill>
            <a:srgbClr val="F1F5F9"/>
          </a:solidFill>
          <a:ln w="25400">
            <a:solidFill>
              <a:srgbClr val="0E74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128016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E7490"/>
                </a:solidFill>
              </a:defRPr>
            </a:pPr>
            <a:r>
              <a:t>NEAR TERM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64592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4748B"/>
                </a:solidFill>
              </a:defRPr>
            </a:pPr>
            <a:r>
              <a:t>Full enrichment with all 7 sources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874519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4748B"/>
                </a:solidFill>
              </a:defRPr>
            </a:pPr>
            <a:r>
              <a:t>100+ transforms (3 strategies)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10312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4748B"/>
                </a:solidFill>
              </a:defRPr>
            </a:pPr>
            <a:r>
              <a:t>Deploy to staging environment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233172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4748B"/>
                </a:solidFill>
              </a:defRPr>
            </a:pPr>
            <a:r>
              <a:t>Community beta with curators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256032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4748B"/>
                </a:solidFill>
              </a:defRPr>
            </a:pPr>
            <a:r>
              <a:t>HoMBA + additional ontologies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278892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4748B"/>
                </a:solidFill>
              </a:defRPr>
            </a:pPr>
            <a:r>
              <a:t>OpenNeuro batch (100+ datasets)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206240" y="1188720"/>
            <a:ext cx="3474720" cy="2743200"/>
          </a:xfrm>
          <a:prstGeom prst="roundRect">
            <a:avLst/>
          </a:prstGeom>
          <a:solidFill>
            <a:srgbClr val="F1F5F9"/>
          </a:solidFill>
          <a:ln w="25400">
            <a:solidFill>
              <a:srgbClr val="B4530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343400" y="128016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B45309"/>
                </a:solidFill>
              </a:defRPr>
            </a:pPr>
            <a:r>
              <a:t>MEDIUM TERM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343400" y="164592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4748B"/>
                </a:solidFill>
              </a:defRPr>
            </a:pPr>
            <a:r>
              <a:t>Custom LLM fine-tuning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343400" y="1874519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4748B"/>
                </a:solidFill>
              </a:defRPr>
            </a:pPr>
            <a:r>
              <a:t>Real-time collaborative curation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343400" y="210312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4748B"/>
                </a:solidFill>
              </a:defRPr>
            </a:pPr>
            <a:r>
              <a:t>Cross-registry federation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343400" y="233172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4748B"/>
                </a:solidFill>
              </a:defRPr>
            </a:pPr>
            <a:r>
              <a:t>API consumers and integrations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343400" y="256032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4748B"/>
                </a:solidFill>
              </a:defRPr>
            </a:pPr>
            <a:r>
              <a:t>Automated pipeline scheduling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955279" y="1188720"/>
            <a:ext cx="3474720" cy="2743200"/>
          </a:xfrm>
          <a:prstGeom prst="roundRect">
            <a:avLst/>
          </a:prstGeom>
          <a:solidFill>
            <a:srgbClr val="F1F5F9"/>
          </a:solidFill>
          <a:ln w="25400">
            <a:solidFill>
              <a:srgbClr val="1580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092440" y="128016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5803D"/>
                </a:solidFill>
              </a:defRPr>
            </a:pPr>
            <a:r>
              <a:t>LONG TERM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092440" y="164592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4748B"/>
                </a:solidFill>
              </a:defRPr>
            </a:pPr>
            <a:r>
              <a:t>Community-driven ontology creation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092440" y="1874519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4748B"/>
                </a:solidFill>
              </a:defRPr>
            </a:pPr>
            <a:r>
              <a:t>Federated registry network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092440" y="210312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4748B"/>
                </a:solidFill>
              </a:defRPr>
            </a:pPr>
            <a:r>
              <a:t>Standard adoption by ecosystems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092440" y="233172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4748B"/>
                </a:solidFill>
              </a:defRPr>
            </a:pPr>
            <a:r>
              <a:t>Training data for neuro NLP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092440" y="256032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4748B"/>
                </a:solidFill>
              </a:defRPr>
            </a:pPr>
            <a:r>
              <a:t>Integration with analysis pipelines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812280"/>
            <a:ext cx="12191695" cy="45720"/>
          </a:xfrm>
          <a:prstGeom prst="rect">
            <a:avLst/>
          </a:prstGeom>
          <a:solidFill>
            <a:srgbClr val="0E74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828800" y="45720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5400" b="1">
                <a:solidFill>
                  <a:srgbClr val="0E7490"/>
                </a:solidFill>
              </a:defRPr>
            </a:pPr>
            <a:r>
              <a:t>Key Takeaways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058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>
                <a:solidFill>
                  <a:srgbClr val="1E293B"/>
                </a:solidFill>
              </a:defRPr>
              <a:buClr>
                <a:srgbClr val="0E7490"/>
              </a:buClr>
              <a:buChar char="•"/>
            </a:pPr>
            <a:r>
              <a:t>Content-addressed identity solves schema fragmentation across 7+ ecosystems</a:t>
            </a:r>
          </a:p>
          <a:p>
            <a:pPr>
              <a:spcAft>
                <a:spcPts val="800"/>
              </a:spcAft>
              <a:defRPr sz="2000">
                <a:solidFill>
                  <a:srgbClr val="1E293B"/>
                </a:solidFill>
              </a:defRPr>
              <a:buClr>
                <a:srgbClr val="0E7490"/>
              </a:buClr>
              <a:buChar char="•"/>
            </a:pPr>
            <a:r>
              <a:t>Evidence-based curation prevents hallucinated confidence — every claim verifiable</a:t>
            </a:r>
          </a:p>
          <a:p>
            <a:pPr>
              <a:spcAft>
                <a:spcPts val="800"/>
              </a:spcAft>
              <a:defRPr sz="2000">
                <a:solidFill>
                  <a:srgbClr val="1E293B"/>
                </a:solidFill>
              </a:defRPr>
              <a:buClr>
                <a:srgbClr val="0E7490"/>
              </a:buClr>
              <a:buChar char="•"/>
            </a:pPr>
            <a:r>
              <a:t>38 features, 436 tests, 7,055 elements from a rigorous speckit-driven process</a:t>
            </a:r>
          </a:p>
          <a:p>
            <a:pPr>
              <a:spcAft>
                <a:spcPts val="800"/>
              </a:spcAft>
              <a:defRPr sz="2000">
                <a:solidFill>
                  <a:srgbClr val="1E293B"/>
                </a:solidFill>
              </a:defRPr>
              <a:buClr>
                <a:srgbClr val="0E7490"/>
              </a:buClr>
              <a:buChar char="•"/>
            </a:pPr>
            <a:r>
              <a:t>Three enrichment strategies: embedding + LLM verification + ontology hierarchy</a:t>
            </a:r>
          </a:p>
          <a:p>
            <a:pPr>
              <a:spcAft>
                <a:spcPts val="800"/>
              </a:spcAft>
              <a:defRPr sz="2000">
                <a:solidFill>
                  <a:srgbClr val="1E293B"/>
                </a:solidFill>
              </a:defRPr>
              <a:buClr>
                <a:srgbClr val="0E7490"/>
              </a:buClr>
              <a:buChar char="•"/>
            </a:pPr>
            <a:r>
              <a:t>Three transform strategies: shared URI + name matching + embedding similarity</a:t>
            </a:r>
          </a:p>
          <a:p>
            <a:pPr>
              <a:spcAft>
                <a:spcPts val="800"/>
              </a:spcAft>
              <a:defRPr sz="2000">
                <a:solidFill>
                  <a:srgbClr val="1E293B"/>
                </a:solidFill>
              </a:defRPr>
              <a:buClr>
                <a:srgbClr val="0E7490"/>
              </a:buClr>
              <a:buChar char="•"/>
            </a:pPr>
            <a:r>
              <a:t>Full audit trail with PROV-O provenance for every mutation</a:t>
            </a:r>
          </a:p>
          <a:p>
            <a:pPr>
              <a:spcAft>
                <a:spcPts val="800"/>
              </a:spcAft>
              <a:defRPr sz="2000">
                <a:solidFill>
                  <a:srgbClr val="1E293B"/>
                </a:solidFill>
              </a:defRPr>
              <a:buClr>
                <a:srgbClr val="0E7490"/>
              </a:buClr>
              <a:buChar char="•"/>
            </a:pPr>
            <a:r>
              <a:t>Library + backend + frontend — all open, all tested, all documented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812280"/>
            <a:ext cx="12191695" cy="45720"/>
          </a:xfrm>
          <a:prstGeom prst="rect">
            <a:avLst/>
          </a:prstGeom>
          <a:solidFill>
            <a:srgbClr val="0E74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6576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1E293B"/>
                </a:solidFill>
              </a:defRPr>
            </a:pPr>
            <a:r>
              <a:t>By The Numbers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05840"/>
            <a:ext cx="1828800" cy="36576"/>
          </a:xfrm>
          <a:prstGeom prst="rect">
            <a:avLst/>
          </a:prstGeom>
          <a:solidFill>
            <a:srgbClr val="0E74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1887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800" b="1">
                <a:solidFill>
                  <a:srgbClr val="0E7490"/>
                </a:solidFill>
              </a:defRPr>
            </a:pPr>
            <a:r>
              <a:t>38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82880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64748B"/>
                </a:solidFill>
              </a:defRPr>
            </a:pPr>
            <a:r>
              <a:t>Features specified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474720" y="11887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800" b="1">
                <a:solidFill>
                  <a:srgbClr val="B45309"/>
                </a:solidFill>
              </a:defRPr>
            </a:pPr>
            <a:r>
              <a:t>47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474720" y="182880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64748B"/>
                </a:solidFill>
              </a:defRPr>
            </a:pPr>
            <a:r>
              <a:t>Tasks in hardening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09360" y="11887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800" b="1">
                <a:solidFill>
                  <a:srgbClr val="15803D"/>
                </a:solidFill>
              </a:defRPr>
            </a:pPr>
            <a:r>
              <a:t>436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09360" y="182880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64748B"/>
                </a:solidFill>
              </a:defRPr>
            </a:pPr>
            <a:r>
              <a:t>Library tests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0" y="11887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800" b="1">
                <a:solidFill>
                  <a:srgbClr val="0E7490"/>
                </a:solidFill>
              </a:defRPr>
            </a:pPr>
            <a:r>
              <a:t>7,055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0" y="182880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64748B"/>
                </a:solidFill>
              </a:defRPr>
            </a:pPr>
            <a:r>
              <a:t>Elements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25603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800" b="1">
                <a:solidFill>
                  <a:srgbClr val="B45309"/>
                </a:solidFill>
              </a:defRPr>
            </a:pPr>
            <a:r>
              <a:t>15,881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320040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64748B"/>
                </a:solidFill>
              </a:defRPr>
            </a:pPr>
            <a:r>
              <a:t>Values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474720" y="25603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800" b="1">
                <a:solidFill>
                  <a:srgbClr val="15803D"/>
                </a:solidFill>
              </a:defRPr>
            </a:pPr>
            <a:r>
              <a:t>1,005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474720" y="320040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64748B"/>
                </a:solidFill>
              </a:defRPr>
            </a:pPr>
            <a:r>
              <a:t>Schemas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09360" y="25603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800" b="1">
                <a:solidFill>
                  <a:srgbClr val="C2410C"/>
                </a:solidFill>
              </a:defRPr>
            </a:pPr>
            <a:r>
              <a:t>2,426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09360" y="320040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64748B"/>
                </a:solidFill>
              </a:defRPr>
            </a:pPr>
            <a:r>
              <a:t>Value Sets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0" y="25603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800" b="1">
                <a:solidFill>
                  <a:srgbClr val="0E7490"/>
                </a:solidFill>
              </a:defRPr>
            </a:pPr>
            <a:r>
              <a:t>9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44000" y="320040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64748B"/>
                </a:solidFill>
              </a:defRPr>
            </a:pPr>
            <a:r>
              <a:t>Ontologies loaded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" y="39319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800" b="1">
                <a:solidFill>
                  <a:srgbClr val="B45309"/>
                </a:solidFill>
              </a:defRPr>
            </a:pPr>
            <a:r>
              <a:t>268K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" y="457200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64748B"/>
                </a:solidFill>
              </a:defRPr>
            </a:pPr>
            <a:r>
              <a:t>Terms embedded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474720" y="39319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800" b="1">
                <a:solidFill>
                  <a:srgbClr val="15803D"/>
                </a:solidFill>
              </a:defRPr>
            </a:pPr>
            <a:r>
              <a:t>8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474720" y="457200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64748B"/>
                </a:solidFill>
              </a:defRPr>
            </a:pPr>
            <a:r>
              <a:t>Source adapters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309360" y="39319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800" b="1">
                <a:solidFill>
                  <a:srgbClr val="C2410C"/>
                </a:solidFill>
              </a:defRPr>
            </a:pPr>
            <a:r>
              <a:t>7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309360" y="457200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64748B"/>
                </a:solidFill>
              </a:defRPr>
            </a:pPr>
            <a:r>
              <a:t>Principles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144000" y="39319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800" b="1">
                <a:solidFill>
                  <a:srgbClr val="0E7490"/>
                </a:solidFill>
              </a:defRPr>
            </a:pPr>
            <a:r>
              <a:t>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144000" y="457200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64748B"/>
                </a:solidFill>
              </a:defRPr>
            </a:pPr>
            <a:r>
              <a:t>Architecture layers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812280"/>
            <a:ext cx="12191695" cy="45720"/>
          </a:xfrm>
          <a:prstGeom prst="rect">
            <a:avLst/>
          </a:prstGeom>
          <a:solidFill>
            <a:srgbClr val="0E74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828800" y="137160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200" b="1">
                <a:solidFill>
                  <a:srgbClr val="0E7490"/>
                </a:solidFill>
              </a:defRPr>
            </a:pPr>
            <a:r>
              <a:t>Thank You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0" y="2468880"/>
            <a:ext cx="2286000" cy="36576"/>
          </a:xfrm>
          <a:prstGeom prst="rect">
            <a:avLst/>
          </a:prstGeom>
          <a:solidFill>
            <a:srgbClr val="B4530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828800" y="274320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>
                <a:solidFill>
                  <a:srgbClr val="1E293B"/>
                </a:solidFill>
              </a:defRPr>
            </a:pPr>
            <a:r>
              <a:t>undata: A Universal Data Element Registry for Neuroscience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0" y="365760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>
                <a:solidFill>
                  <a:srgbClr val="0E7490"/>
                </a:solidFill>
              </a:defRPr>
            </a:pPr>
            <a:r>
              <a:t>github.com/sensein/undata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0" y="411480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64748B"/>
                </a:solidFill>
              </a:defRPr>
            </a:pPr>
            <a:r>
              <a:t>satra@mit.edu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50292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64748B"/>
                </a:solidFill>
              </a:defRPr>
            </a:pPr>
            <a:r>
              <a:t>Built with: Python 3.14 • FastAPI • Next.js • PostgreSQL • pyoxigraph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539496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64748B"/>
                </a:solidFill>
              </a:defRPr>
            </a:pPr>
            <a:r>
              <a:t>Powered by: speckit lifecycle • litellm • sentence-transformers • datalad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812280"/>
            <a:ext cx="12191695" cy="45720"/>
          </a:xfrm>
          <a:prstGeom prst="rect">
            <a:avLst/>
          </a:prstGeom>
          <a:solidFill>
            <a:srgbClr val="0E74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6576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1E293B"/>
                </a:solidFill>
              </a:defRPr>
            </a:pPr>
            <a:r>
              <a:t>Appendix: Feature Map — Iteration 1 (001–027)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05840"/>
            <a:ext cx="1828800" cy="36576"/>
          </a:xfrm>
          <a:prstGeom prst="rect">
            <a:avLst/>
          </a:prstGeom>
          <a:solidFill>
            <a:srgbClr val="0E74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457200" y="1188720"/>
            <a:ext cx="3566160" cy="2286000"/>
          </a:xfrm>
          <a:prstGeom prst="roundRect">
            <a:avLst/>
          </a:prstGeom>
          <a:solidFill>
            <a:srgbClr val="F1F5F9"/>
          </a:solidFill>
          <a:ln w="25400">
            <a:solidFill>
              <a:srgbClr val="6474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1280160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64748B"/>
                </a:solidFill>
              </a:defRPr>
            </a:pPr>
            <a:r>
              <a:t>Foundation (001–005)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645920"/>
            <a:ext cx="3291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4748B"/>
                </a:solidFill>
              </a:defRPr>
            </a:pPr>
            <a:r>
              <a:t>001 Schema integration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874519"/>
            <a:ext cx="3291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4748B"/>
                </a:solidFill>
              </a:defRPr>
            </a:pPr>
            <a:r>
              <a:t>002 Schema backend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103120"/>
            <a:ext cx="3291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4748B"/>
                </a:solidFill>
              </a:defRPr>
            </a:pPr>
            <a:r>
              <a:t>003 Schema explorer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2331720"/>
            <a:ext cx="3291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4748B"/>
                </a:solidFill>
              </a:defRPr>
            </a:pPr>
            <a:r>
              <a:t>004 Migration API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2560320"/>
            <a:ext cx="3291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4748B"/>
                </a:solidFill>
              </a:defRPr>
            </a:pPr>
            <a:r>
              <a:t>005 Schema enrichment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297680" y="1188720"/>
            <a:ext cx="3566160" cy="2286000"/>
          </a:xfrm>
          <a:prstGeom prst="roundRect">
            <a:avLst/>
          </a:prstGeom>
          <a:solidFill>
            <a:srgbClr val="F1F5F9"/>
          </a:solidFill>
          <a:ln w="25400">
            <a:solidFill>
              <a:srgbClr val="6474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434840" y="1280160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64748B"/>
                </a:solidFill>
              </a:defRPr>
            </a:pPr>
            <a:r>
              <a:t>Adapters (006–010)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34840" y="1645920"/>
            <a:ext cx="3291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4748B"/>
                </a:solidFill>
              </a:defRPr>
            </a:pPr>
            <a:r>
              <a:t>006 Dual-path adapters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34840" y="1874519"/>
            <a:ext cx="3291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4748B"/>
                </a:solidFill>
              </a:defRPr>
            </a:pPr>
            <a:r>
              <a:t>007 End-to-end pipeline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34840" y="2103120"/>
            <a:ext cx="3291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4748B"/>
                </a:solidFill>
              </a:defRPr>
            </a:pPr>
            <a:r>
              <a:t>008 Schema import roundtrip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34840" y="2331720"/>
            <a:ext cx="3291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4748B"/>
                </a:solidFill>
              </a:defRPr>
            </a:pPr>
            <a:r>
              <a:t>009 Tutorials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434840" y="2560320"/>
            <a:ext cx="3291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4748B"/>
                </a:solidFill>
              </a:defRPr>
            </a:pPr>
            <a:r>
              <a:t>010 JupyterBook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138160" y="1188720"/>
            <a:ext cx="3566160" cy="2286000"/>
          </a:xfrm>
          <a:prstGeom prst="roundRect">
            <a:avLst/>
          </a:prstGeom>
          <a:solidFill>
            <a:srgbClr val="F1F5F9"/>
          </a:solidFill>
          <a:ln w="25400">
            <a:solidFill>
              <a:srgbClr val="0E74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75320" y="1280160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E7490"/>
                </a:solidFill>
              </a:defRPr>
            </a:pPr>
            <a:r>
              <a:t>Core Model (011–015)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75320" y="1645920"/>
            <a:ext cx="3291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4748B"/>
                </a:solidFill>
              </a:defRPr>
            </a:pPr>
            <a:r>
              <a:t>011 Metamodel provenance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75320" y="1874519"/>
            <a:ext cx="3291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4748B"/>
                </a:solidFill>
              </a:defRPr>
            </a:pPr>
            <a:r>
              <a:t>012 Fullstack compose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75320" y="2103120"/>
            <a:ext cx="3291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4748B"/>
                </a:solidFill>
              </a:defRPr>
            </a:pPr>
            <a:r>
              <a:t>013 Migration UI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75320" y="2331720"/>
            <a:ext cx="3291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4748B"/>
                </a:solidFill>
              </a:defRPr>
            </a:pPr>
            <a:r>
              <a:t>014 Deployment pipeline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75320" y="2560320"/>
            <a:ext cx="3291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4748B"/>
                </a:solidFill>
              </a:defRPr>
            </a:pPr>
            <a:r>
              <a:t>015 undata-library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57200" y="3749039"/>
            <a:ext cx="3566160" cy="2286000"/>
          </a:xfrm>
          <a:prstGeom prst="roundRect">
            <a:avLst/>
          </a:prstGeom>
          <a:solidFill>
            <a:srgbClr val="F1F5F9"/>
          </a:solidFill>
          <a:ln w="25400">
            <a:solidFill>
              <a:srgbClr val="B4530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94360" y="3840479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B45309"/>
                </a:solidFill>
              </a:defRPr>
            </a:pPr>
            <a:r>
              <a:t>Data Richness (016–020)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94360" y="4206240"/>
            <a:ext cx="3291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4748B"/>
                </a:solidFill>
              </a:defRPr>
            </a:pPr>
            <a:r>
              <a:t>016 Value concepts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94360" y="4434840"/>
            <a:ext cx="3291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4748B"/>
                </a:solidFill>
              </a:defRPr>
            </a:pPr>
            <a:r>
              <a:t>017 Backend-library alignment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94360" y="4663440"/>
            <a:ext cx="3291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4748B"/>
                </a:solidFill>
              </a:defRPr>
            </a:pPr>
            <a:r>
              <a:t>018 Rich data model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94360" y="4892040"/>
            <a:ext cx="3291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4748B"/>
                </a:solidFill>
              </a:defRPr>
            </a:pPr>
            <a:r>
              <a:t>019 Ingestion overhaul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94360" y="5120640"/>
            <a:ext cx="3291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4748B"/>
                </a:solidFill>
              </a:defRPr>
            </a:pPr>
            <a:r>
              <a:t>020 Extract transforms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4297680" y="3749039"/>
            <a:ext cx="3566160" cy="2286000"/>
          </a:xfrm>
          <a:prstGeom prst="roundRect">
            <a:avLst/>
          </a:prstGeom>
          <a:solidFill>
            <a:srgbClr val="F1F5F9"/>
          </a:solidFill>
          <a:ln w="25400">
            <a:solidFill>
              <a:srgbClr val="B4530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434840" y="3840479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B45309"/>
                </a:solidFill>
              </a:defRPr>
            </a:pPr>
            <a:r>
              <a:t>Pipeline (021–027)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434840" y="4206240"/>
            <a:ext cx="3291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4748B"/>
                </a:solidFill>
              </a:defRPr>
            </a:pPr>
            <a:r>
              <a:t>021 Source acquisition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434840" y="4434840"/>
            <a:ext cx="3291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4748B"/>
                </a:solidFill>
              </a:defRPr>
            </a:pPr>
            <a:r>
              <a:t>022 Full re-extract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434840" y="4663440"/>
            <a:ext cx="3291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4748B"/>
                </a:solidFill>
              </a:defRPr>
            </a:pPr>
            <a:r>
              <a:t>023 Repo restructure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434840" y="4892040"/>
            <a:ext cx="3291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4748B"/>
                </a:solidFill>
              </a:defRPr>
            </a:pPr>
            <a:r>
              <a:t>024 Ontology service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434840" y="5120640"/>
            <a:ext cx="3291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4748B"/>
                </a:solidFill>
              </a:defRPr>
            </a:pPr>
            <a:r>
              <a:t>025 Ontology expansion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434840" y="5349240"/>
            <a:ext cx="3291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4748B"/>
                </a:solidFill>
              </a:defRPr>
            </a:pPr>
            <a:r>
              <a:t>026 Staged enrichment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434840" y="5577840"/>
            <a:ext cx="3291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4748B"/>
                </a:solidFill>
              </a:defRPr>
            </a:pPr>
            <a:r>
              <a:t>027 Library hardening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812280"/>
            <a:ext cx="12191695" cy="45720"/>
          </a:xfrm>
          <a:prstGeom prst="rect">
            <a:avLst/>
          </a:prstGeom>
          <a:solidFill>
            <a:srgbClr val="0E74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6576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1E293B"/>
                </a:solidFill>
              </a:defRPr>
            </a:pPr>
            <a:r>
              <a:t>Appendix: Feature Map — Iteration 2 (028–038)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05840"/>
            <a:ext cx="1828800" cy="36576"/>
          </a:xfrm>
          <a:prstGeom prst="rect">
            <a:avLst/>
          </a:prstGeom>
          <a:solidFill>
            <a:srgbClr val="0E74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457200" y="1188720"/>
            <a:ext cx="3566160" cy="2286000"/>
          </a:xfrm>
          <a:prstGeom prst="roundRect">
            <a:avLst/>
          </a:prstGeom>
          <a:solidFill>
            <a:srgbClr val="F1F5F9"/>
          </a:solidFill>
          <a:ln w="25400">
            <a:solidFill>
              <a:srgbClr val="0E74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1280160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E7490"/>
                </a:solidFill>
              </a:defRPr>
            </a:pPr>
            <a:r>
              <a:t>Infrastructure (028–029)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645920"/>
            <a:ext cx="3291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4748B"/>
                </a:solidFill>
              </a:defRPr>
            </a:pPr>
            <a:r>
              <a:t>028 Storage abstraction — StorageBackend protocol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874519"/>
            <a:ext cx="3291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4748B"/>
                </a:solidFill>
              </a:defRPr>
            </a:pPr>
            <a:r>
              <a:t>029 Backend service — FastAPI + Strawberry GraphQL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297680" y="1188720"/>
            <a:ext cx="3566160" cy="2286000"/>
          </a:xfrm>
          <a:prstGeom prst="roundRect">
            <a:avLst/>
          </a:prstGeom>
          <a:solidFill>
            <a:srgbClr val="F1F5F9"/>
          </a:solidFill>
          <a:ln w="25400">
            <a:solidFill>
              <a:srgbClr val="0E74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434840" y="1280160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E7490"/>
                </a:solidFill>
              </a:defRPr>
            </a:pPr>
            <a:r>
              <a:t>Frontend (030–032)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34840" y="1645920"/>
            <a:ext cx="3291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4748B"/>
                </a:solidFill>
              </a:defRPr>
            </a:pPr>
            <a:r>
              <a:t>030 Frontend integration — Next.js + Apollo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34840" y="1874519"/>
            <a:ext cx="3291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4748B"/>
                </a:solidFill>
              </a:defRPr>
            </a:pPr>
            <a:r>
              <a:t>031 CivicDB UI — community curation model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34840" y="2103120"/>
            <a:ext cx="3291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4748B"/>
                </a:solidFill>
              </a:defRPr>
            </a:pPr>
            <a:r>
              <a:t>032 Authentication — Keycloak OIDC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138160" y="1188720"/>
            <a:ext cx="3566160" cy="2286000"/>
          </a:xfrm>
          <a:prstGeom prst="roundRect">
            <a:avLst/>
          </a:prstGeom>
          <a:solidFill>
            <a:srgbClr val="F1F5F9"/>
          </a:solidFill>
          <a:ln w="25400">
            <a:solidFill>
              <a:srgbClr val="B4530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75320" y="1280160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B45309"/>
                </a:solidFill>
              </a:defRPr>
            </a:pPr>
            <a:r>
              <a:t>Data Quality (033–034)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75320" y="1645920"/>
            <a:ext cx="3291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4748B"/>
                </a:solidFill>
              </a:defRPr>
            </a:pPr>
            <a:r>
              <a:t>033 Unit standardization — QUDT + cmixf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75320" y="1874519"/>
            <a:ext cx="3291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4748B"/>
                </a:solidFill>
              </a:defRPr>
            </a:pPr>
            <a:r>
              <a:t>034 Curation interface — flags, queue, chat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57200" y="3749039"/>
            <a:ext cx="3566160" cy="2286000"/>
          </a:xfrm>
          <a:prstGeom prst="roundRect">
            <a:avLst/>
          </a:prstGeom>
          <a:solidFill>
            <a:srgbClr val="F1F5F9"/>
          </a:solidFill>
          <a:ln w="25400">
            <a:solidFill>
              <a:srgbClr val="B4530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94360" y="3840479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B45309"/>
                </a:solidFill>
              </a:defRPr>
            </a:pPr>
            <a:r>
              <a:t>UX + Knowledge (035–037)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94360" y="4206240"/>
            <a:ext cx="3291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4748B"/>
                </a:solidFill>
              </a:defRPr>
            </a:pPr>
            <a:r>
              <a:t>035 UX overhaul — EntityDataGrid, PropertyTable, search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94360" y="4434840"/>
            <a:ext cx="3291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4748B"/>
                </a:solidFill>
              </a:defRPr>
            </a:pPr>
            <a:r>
              <a:t>036 Knowledge service — ontology store, adapters, LLM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94360" y="4663440"/>
            <a:ext cx="3291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4748B"/>
                </a:solidFill>
              </a:defRPr>
            </a:pPr>
            <a:r>
              <a:t>037 Data export — YAML + Parquet + manifest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297680" y="3749039"/>
            <a:ext cx="3566160" cy="2286000"/>
          </a:xfrm>
          <a:prstGeom prst="roundRect">
            <a:avLst/>
          </a:prstGeom>
          <a:solidFill>
            <a:srgbClr val="F1F5F9"/>
          </a:solidFill>
          <a:ln w="25400">
            <a:solidFill>
              <a:srgbClr val="1580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434840" y="3840479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5803D"/>
                </a:solidFill>
              </a:defRPr>
            </a:pPr>
            <a:r>
              <a:t>Hardening (038)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434840" y="4206240"/>
            <a:ext cx="3291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4748B"/>
                </a:solidFill>
              </a:defRPr>
            </a:pPr>
            <a:r>
              <a:t>038 System hardening — 47 tasks, 9 user stories: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434840" y="4434840"/>
            <a:ext cx="3291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4748B"/>
                </a:solidFill>
              </a:defRPr>
            </a:pPr>
            <a:r>
              <a:t>  LLM chat, evidence chains, transforms,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434840" y="4663440"/>
            <a:ext cx="3291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4748B"/>
                </a:solidFill>
              </a:defRPr>
            </a:pPr>
            <a:r>
              <a:t>  search modes, audit log, versioning,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434840" y="4892040"/>
            <a:ext cx="3291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4748B"/>
                </a:solidFill>
              </a:defRPr>
            </a:pPr>
            <a:r>
              <a:t>  7 sources, downloads, CI updates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812280"/>
            <a:ext cx="12191695" cy="45720"/>
          </a:xfrm>
          <a:prstGeom prst="rect">
            <a:avLst/>
          </a:prstGeom>
          <a:solidFill>
            <a:srgbClr val="0E74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E7490"/>
                </a:solidFill>
              </a:defRPr>
            </a:pPr>
            <a:r>
              <a:t>Architecture: 30,000ft Overview</a:t>
            </a:r>
          </a:p>
        </p:txBody>
      </p:sp>
      <p:pic>
        <p:nvPicPr>
          <p:cNvPr id="4" name="Picture 3" descr="01_overview_30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502920"/>
            <a:ext cx="11612880" cy="7258050"/>
          </a:xfrm>
          <a:prstGeom prst="rect">
            <a:avLst/>
          </a:prstGeom>
        </p:spPr>
      </p:pic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812280"/>
            <a:ext cx="12191695" cy="45720"/>
          </a:xfrm>
          <a:prstGeom prst="rect">
            <a:avLst/>
          </a:prstGeom>
          <a:solidFill>
            <a:srgbClr val="0E74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E7490"/>
                </a:solidFill>
              </a:defRPr>
            </a:pPr>
            <a:r>
              <a:t>Architecture: Pipeline Detail</a:t>
            </a:r>
          </a:p>
        </p:txBody>
      </p:sp>
      <p:pic>
        <p:nvPicPr>
          <p:cNvPr id="4" name="Picture 3" descr="02_pipeline_2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502920"/>
            <a:ext cx="11612880" cy="7258050"/>
          </a:xfrm>
          <a:prstGeom prst="rect">
            <a:avLst/>
          </a:prstGeom>
        </p:spPr>
      </p:pic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812280"/>
            <a:ext cx="12191695" cy="45720"/>
          </a:xfrm>
          <a:prstGeom prst="rect">
            <a:avLst/>
          </a:prstGeom>
          <a:solidFill>
            <a:srgbClr val="0E74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E7490"/>
                </a:solidFill>
              </a:defRPr>
            </a:pPr>
            <a:r>
              <a:t>Architecture: Backend Detail</a:t>
            </a:r>
          </a:p>
        </p:txBody>
      </p:sp>
      <p:pic>
        <p:nvPicPr>
          <p:cNvPr id="4" name="Picture 3" descr="03_backend_2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502920"/>
            <a:ext cx="11612880" cy="7258050"/>
          </a:xfrm>
          <a:prstGeom prst="rect">
            <a:avLst/>
          </a:prstGeom>
        </p:spPr>
      </p:pic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812280"/>
            <a:ext cx="12191695" cy="45720"/>
          </a:xfrm>
          <a:prstGeom prst="rect">
            <a:avLst/>
          </a:prstGeom>
          <a:solidFill>
            <a:srgbClr val="0E74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E7490"/>
                </a:solidFill>
              </a:defRPr>
            </a:pPr>
            <a:r>
              <a:t>Architecture: Frontend Detail</a:t>
            </a:r>
          </a:p>
        </p:txBody>
      </p:sp>
      <p:pic>
        <p:nvPicPr>
          <p:cNvPr id="4" name="Picture 3" descr="04_frontend_2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502920"/>
            <a:ext cx="11612880" cy="7258050"/>
          </a:xfrm>
          <a:prstGeom prst="rect">
            <a:avLst/>
          </a:prstGeom>
        </p:spPr>
      </p:pic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812280"/>
            <a:ext cx="12191695" cy="45720"/>
          </a:xfrm>
          <a:prstGeom prst="rect">
            <a:avLst/>
          </a:prstGeom>
          <a:solidFill>
            <a:srgbClr val="0E74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E7490"/>
                </a:solidFill>
              </a:defRPr>
            </a:pPr>
            <a:r>
              <a:t>Architecture: Entity Model Detail</a:t>
            </a:r>
          </a:p>
        </p:txBody>
      </p:sp>
      <p:pic>
        <p:nvPicPr>
          <p:cNvPr id="4" name="Picture 3" descr="05_entity_model_2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502920"/>
            <a:ext cx="11612880" cy="725805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